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94" r:id="rId1"/>
    <p:sldMasterId id="2147484987" r:id="rId2"/>
    <p:sldMasterId id="2147484787" r:id="rId3"/>
    <p:sldMasterId id="2147485076" r:id="rId4"/>
  </p:sldMasterIdLst>
  <p:notesMasterIdLst>
    <p:notesMasterId r:id="rId15"/>
  </p:notesMasterIdLst>
  <p:handoutMasterIdLst>
    <p:handoutMasterId r:id="rId16"/>
  </p:handoutMasterIdLst>
  <p:sldIdLst>
    <p:sldId id="471" r:id="rId5"/>
    <p:sldId id="509" r:id="rId6"/>
    <p:sldId id="533" r:id="rId7"/>
    <p:sldId id="522" r:id="rId8"/>
    <p:sldId id="524" r:id="rId9"/>
    <p:sldId id="529" r:id="rId10"/>
    <p:sldId id="534" r:id="rId11"/>
    <p:sldId id="532" r:id="rId12"/>
    <p:sldId id="535" r:id="rId13"/>
    <p:sldId id="444" r:id="rId14"/>
  </p:sldIdLst>
  <p:sldSz cx="9144000" cy="6858000" type="screen4x3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614A94-E2EA-BC93-B8FD-8039B2B2F898}" name="Michele Bazana de Souza" initials="MBdS" userId="Michele Bazana de Souz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A4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8940" autoAdjust="0"/>
  </p:normalViewPr>
  <p:slideViewPr>
    <p:cSldViewPr showGuides="1">
      <p:cViewPr varScale="1">
        <p:scale>
          <a:sx n="74" d="100"/>
          <a:sy n="74" d="100"/>
        </p:scale>
        <p:origin x="124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0"/>
    </p:cViewPr>
  </p:sorterViewPr>
  <p:notesViewPr>
    <p:cSldViewPr showGuides="1">
      <p:cViewPr>
        <p:scale>
          <a:sx n="90" d="100"/>
          <a:sy n="90" d="100"/>
        </p:scale>
        <p:origin x="2688" y="-61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46" descr="top ppt">
            <a:extLst>
              <a:ext uri="{FF2B5EF4-FFF2-40B4-BE49-F238E27FC236}">
                <a16:creationId xmlns:a16="http://schemas.microsoft.com/office/drawing/2014/main" id="{4F860F37-CA72-464D-9116-B6BC16A93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1450"/>
            <a:ext cx="68373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147">
            <a:extLst>
              <a:ext uri="{FF2B5EF4-FFF2-40B4-BE49-F238E27FC236}">
                <a16:creationId xmlns:a16="http://schemas.microsoft.com/office/drawing/2014/main" id="{70789427-4C6A-4A75-B31F-2E4759F472CD}"/>
              </a:ext>
            </a:extLst>
          </p:cNvPr>
          <p:cNvGraphicFramePr>
            <a:graphicFrameLocks noGrp="1"/>
          </p:cNvGraphicFramePr>
          <p:nvPr/>
        </p:nvGraphicFramePr>
        <p:xfrm>
          <a:off x="344488" y="8931275"/>
          <a:ext cx="6615112" cy="327025"/>
        </p:xfrm>
        <a:graphic>
          <a:graphicData uri="http://schemas.openxmlformats.org/drawingml/2006/table">
            <a:tbl>
              <a:tblPr/>
              <a:tblGrid>
                <a:gridCol w="56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em Engenharia de Software Orientada a Serviços (SOA)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lang="pt-BR" sz="800" dirty="0" err="1">
                          <a:latin typeface="Square721 BT" pitchFamily="34" charset="0"/>
                          <a:cs typeface="Calibri" pitchFamily="34" charset="0"/>
                        </a:rPr>
                        <a:t>Profª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. </a:t>
                      </a:r>
                      <a:r>
                        <a:rPr lang="en-US" sz="800" dirty="0" err="1">
                          <a:latin typeface="Square721 BT" pitchFamily="34" charset="0"/>
                          <a:cs typeface="Calibri" pitchFamily="34" charset="0"/>
                        </a:rPr>
                        <a:t>MSc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Susanne Anjos Andrade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</a:endParaRPr>
                    </a:p>
                  </a:txBody>
                  <a:tcPr marT="35541" marB="35541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35541" marB="35541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35">
            <a:extLst>
              <a:ext uri="{FF2B5EF4-FFF2-40B4-BE49-F238E27FC236}">
                <a16:creationId xmlns:a16="http://schemas.microsoft.com/office/drawing/2014/main" id="{2E86EE7D-ABE9-4FEF-943A-E8FC6FC1992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550" y="8777288"/>
            <a:ext cx="307657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Square721 BT" pitchFamily="34" charset="0"/>
              </a:defRPr>
            </a:lvl1pPr>
          </a:lstStyle>
          <a:p>
            <a:pPr>
              <a:defRPr/>
            </a:pPr>
            <a:r>
              <a:rPr lang="pt-BR" altLang="pt-BR"/>
              <a:t>Página - </a:t>
            </a:r>
            <a:fld id="{61BF9E74-DAA4-4DE3-BDB4-B1097CD628B2}" type="slidenum">
              <a:rPr lang="pt-BR" altLang="pt-BR"/>
              <a:pPr>
                <a:defRPr/>
              </a:pPr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226DE4D-D64C-41F9-9DCC-8954A26D74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4D9C91-4FDB-4F9B-846F-98C2EF0CBD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fld id="{98BF8467-D8F0-4E80-9D68-0D77DCFBCAC4}" type="datetimeFigureOut">
              <a:rPr lang="pt-BR"/>
              <a:pPr>
                <a:defRPr/>
              </a:pPr>
              <a:t>20/04/2022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5ECC52DC-F9A3-4774-9A6C-4BCBFFCC5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26FA4C5-FAD6-4245-AAAE-77FDD33E0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21175"/>
          </a:xfrm>
          <a:prstGeom prst="rect">
            <a:avLst/>
          </a:prstGeom>
        </p:spPr>
        <p:txBody>
          <a:bodyPr vert="horz" lIns="112334" tIns="56167" rIns="112334" bIns="56167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D23617-D517-4A52-91C7-BCFDC3F8FA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299F0D-A39A-48E1-BA77-E94D22ED9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112334" tIns="56167" rIns="112334" bIns="5616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5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741D7E1-E712-4F31-8EE8-FB7881D9635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037F24C-7147-490B-B2E0-A119D9077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8413" y="727075"/>
            <a:ext cx="4778375" cy="35845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E71195C-13CC-43FC-8561-60E69F79B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4888" y="4573588"/>
            <a:ext cx="5297487" cy="3800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128792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5054" y="1340768"/>
            <a:ext cx="8283409" cy="525658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8924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808" cy="5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5887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1010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2913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6280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126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05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5896" y="764704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199" y="1926754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7189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85148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67544" y="836712"/>
            <a:ext cx="8229600" cy="5635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3762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413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580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66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215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0921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309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2405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95936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89515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8"/>
            <a:ext cx="7056784" cy="504056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7916416" cy="518457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26114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808" cy="504800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49965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906926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337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868288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7056784" cy="504825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75891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6912768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00123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9307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16247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81624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978297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2334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895264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8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7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C738FB59-4157-458C-8F68-8BBFE91DF4E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C6919357-FA36-46F9-B6A3-800E32DC74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052" name="CaixaDeTexto 5">
            <a:extLst>
              <a:ext uri="{FF2B5EF4-FFF2-40B4-BE49-F238E27FC236}">
                <a16:creationId xmlns:a16="http://schemas.microsoft.com/office/drawing/2014/main" id="{58E61261-F8DE-4F81-B5AB-FAE871C42C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79838" y="3252788"/>
            <a:ext cx="176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t-BR" altLang="pt-BR" sz="2000" b="1"/>
              <a:t>TEMPLATE 2</a:t>
            </a:r>
          </a:p>
        </p:txBody>
      </p:sp>
      <p:pic>
        <p:nvPicPr>
          <p:cNvPr id="2053" name="Imagem 2">
            <a:extLst>
              <a:ext uri="{FF2B5EF4-FFF2-40B4-BE49-F238E27FC236}">
                <a16:creationId xmlns:a16="http://schemas.microsoft.com/office/drawing/2014/main" id="{B2FE3769-3D70-43CB-8CC2-98F328BBC77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57" r:id="rId1"/>
    <p:sldLayoutId id="2147485058" r:id="rId2"/>
    <p:sldLayoutId id="2147485059" r:id="rId3"/>
    <p:sldLayoutId id="2147485060" r:id="rId4"/>
    <p:sldLayoutId id="2147485061" r:id="rId5"/>
    <p:sldLayoutId id="2147485062" r:id="rId6"/>
    <p:sldLayoutId id="2147485063" r:id="rId7"/>
    <p:sldLayoutId id="2147485064" r:id="rId8"/>
    <p:sldLayoutId id="2147485065" r:id="rId9"/>
    <p:sldLayoutId id="2147485070" r:id="rId10"/>
    <p:sldLayoutId id="21474850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9F99352D-7981-4853-8146-425016D90C4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A6377868-E329-4BDD-9AD5-890AA2A4E7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C4475-8D3F-49D1-9BCF-B3A2D10D7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6B76EEF-8037-4CDD-AF28-295BED34BD21}" type="datetimeFigureOut">
              <a:rPr lang="pt-BR"/>
              <a:pPr>
                <a:defRPr/>
              </a:pPr>
              <a:t>20/04/2022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3A43D-CC0E-447E-B830-D404D21A7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D9C497-8C9E-4315-81E4-AF8CDC2DC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022FB65-073B-4846-92D5-81E90D2C19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3079" name="Picture 2" descr="C:\Users\cl0817\Desktop\CoringasLogos.jpg">
            <a:extLst>
              <a:ext uri="{FF2B5EF4-FFF2-40B4-BE49-F238E27FC236}">
                <a16:creationId xmlns:a16="http://schemas.microsoft.com/office/drawing/2014/main" id="{71BC5B46-04CB-4344-A51E-75769CB3A9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Imagem 7">
            <a:extLst>
              <a:ext uri="{FF2B5EF4-FFF2-40B4-BE49-F238E27FC236}">
                <a16:creationId xmlns:a16="http://schemas.microsoft.com/office/drawing/2014/main" id="{3F4B71C4-FB06-4128-83C4-B545D45DA68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4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Imagem 8">
            <a:extLst>
              <a:ext uri="{FF2B5EF4-FFF2-40B4-BE49-F238E27FC236}">
                <a16:creationId xmlns:a16="http://schemas.microsoft.com/office/drawing/2014/main" id="{5B38B3D8-C6E2-488B-BB15-BC5620E0E70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275"/>
            <a:ext cx="9161463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71" r:id="rId1"/>
    <p:sldLayoutId id="2147485072" r:id="rId2"/>
    <p:sldLayoutId id="2147485073" r:id="rId3"/>
    <p:sldLayoutId id="2147485074" r:id="rId4"/>
    <p:sldLayoutId id="214748507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2546B3B6-845C-449C-860F-9FEA49F94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170740-16EF-4FCF-8500-0970327B1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100" t="15587" r="77600" b="77055"/>
          <a:stretch/>
        </p:blipFill>
        <p:spPr>
          <a:xfrm>
            <a:off x="98684" y="2789749"/>
            <a:ext cx="3565011" cy="6927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EBDE81-0E34-4AB5-9A21-80BD14AF475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380312" y="116632"/>
            <a:ext cx="1572394" cy="7934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9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21807878-B236-41FA-B2C2-33D4D8DDD1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02030B68-9EF9-491B-897D-28BCA02CE1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pic>
        <p:nvPicPr>
          <p:cNvPr id="1028" name="Picture 2" descr="C:\Users\cl0817\Desktop\MioloBranco.jpg">
            <a:extLst>
              <a:ext uri="{FF2B5EF4-FFF2-40B4-BE49-F238E27FC236}">
                <a16:creationId xmlns:a16="http://schemas.microsoft.com/office/drawing/2014/main" id="{C96B475A-E4E9-4E39-B6EF-38D0C27A47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Imagem 1">
            <a:extLst>
              <a:ext uri="{FF2B5EF4-FFF2-40B4-BE49-F238E27FC236}">
                <a16:creationId xmlns:a16="http://schemas.microsoft.com/office/drawing/2014/main" id="{9CCB3F0B-F6BB-4F73-BCAD-3FCC8FA1255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421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  <p:sldLayoutId id="2147485078" r:id="rId2"/>
    <p:sldLayoutId id="2147485079" r:id="rId3"/>
    <p:sldLayoutId id="2147485080" r:id="rId4"/>
    <p:sldLayoutId id="2147485081" r:id="rId5"/>
    <p:sldLayoutId id="2147485082" r:id="rId6"/>
    <p:sldLayoutId id="2147485083" r:id="rId7"/>
    <p:sldLayoutId id="2147485084" r:id="rId8"/>
    <p:sldLayoutId id="2147485085" r:id="rId9"/>
    <p:sldLayoutId id="214748508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Texto 1">
            <a:extLst>
              <a:ext uri="{FF2B5EF4-FFF2-40B4-BE49-F238E27FC236}">
                <a16:creationId xmlns:a16="http://schemas.microsoft.com/office/drawing/2014/main" id="{D1267B44-EE95-4C1E-A214-444624DB79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067175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 dirty="0"/>
              <a:t>COMPUTATION </a:t>
            </a:r>
            <a:r>
              <a:rPr lang="pt-BR" altLang="pt-BR"/>
              <a:t>THINKING FOR ENGINEERING</a:t>
            </a:r>
            <a:endParaRPr lang="en-US" altLang="pt-BR" dirty="0"/>
          </a:p>
          <a:p>
            <a:endParaRPr lang="pt-BR" altLang="pt-BR" dirty="0"/>
          </a:p>
        </p:txBody>
      </p:sp>
      <p:sp>
        <p:nvSpPr>
          <p:cNvPr id="14339" name="Espaço Reservado para Texto 4">
            <a:extLst>
              <a:ext uri="{FF2B5EF4-FFF2-40B4-BE49-F238E27FC236}">
                <a16:creationId xmlns:a16="http://schemas.microsoft.com/office/drawing/2014/main" id="{9F62D58F-4C56-47EE-A965-7EAD57F53EA9}"/>
              </a:ext>
            </a:extLst>
          </p:cNvPr>
          <p:cNvSpPr txBox="1">
            <a:spLocks/>
          </p:cNvSpPr>
          <p:nvPr/>
        </p:nvSpPr>
        <p:spPr bwMode="auto">
          <a:xfrm>
            <a:off x="1619250" y="5805488"/>
            <a:ext cx="45735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b="1" dirty="0">
                <a:solidFill>
                  <a:srgbClr val="D9D9D9"/>
                </a:solidFill>
              </a:rPr>
              <a:t>Michele Bazana de Souza</a:t>
            </a:r>
            <a:r>
              <a:rPr lang="nb-NO" altLang="pt-BR" sz="1200" dirty="0">
                <a:solidFill>
                  <a:srgbClr val="D9D9D9"/>
                </a:solidFill>
              </a:rPr>
              <a:t> michele.souza@fiap.com.br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nb-NO" altLang="pt-BR" sz="1200" dirty="0">
              <a:solidFill>
                <a:srgbClr val="D9D9D9"/>
              </a:solidFill>
            </a:endParaRP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dirty="0">
                <a:solidFill>
                  <a:srgbClr val="D9D9D9"/>
                </a:solidFill>
              </a:rPr>
              <a:t>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1. Faça um programa para exibir os números de 1 a 100.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&lt;=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(x)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x = x +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2400" dirty="0"/>
              <a:t>2. Faça um programa para exibir os números de 50 a 100. 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50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&lt;=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(x)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x = x +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2DBC07-D479-48AB-B4B0-792A81C57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A93DBB-84A5-43E9-8A73-163A86787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22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3. Faça um programa para escrever a contagem regressiva do lançamento de um foguete. O programa deve imprimir 10, 9, 8, ..., 1, 0 e Fogo! Na tela.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&gt;=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(x)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x = x -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"Fogo!"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pt-BR" altLang="pt-B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2DBC07-D479-48AB-B4B0-792A81C57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A93DBB-84A5-43E9-8A73-163A86787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C6F8BC-CAD5-4324-87AE-DA9F79F46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9AD7BE0-A77F-4914-BD5E-336E46AF3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99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4. Faça um programa para imprimir de 1 até o número digitado pelo usuário que mostre apenas os números ímpares.</a:t>
            </a:r>
          </a:p>
          <a:p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ultimo_numero_impar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o último nº impar a ser mostrado: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&lt;=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ultimo_numero_impar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(x)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x +=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2400" dirty="0"/>
              <a:t>5. Faça um programa para escrever os 10 primeiros múltiplos de 3.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&lt;=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(x)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x +=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8B312F-BD9E-48AB-A819-D6C1E3B93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C84EE3-FC34-45AA-9A40-B3DF7E0A6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837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6. Faça um programa para exibir os resultados de uma tabuada no formato: 2 x 1 = 2, 2 x 2 = 4,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"Tabuada do número: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&lt;=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x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="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 * x)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x +=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pt-BR" sz="2400" dirty="0"/>
              <a:t>7. Modifique o programa interior de forma que o usuário também digite o início e o fim da tabuada, em vez de começar com 1 e 10.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"Tabuada de: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"Início da tabuada: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fim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"Fim da tabuada: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 &lt;= fim: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x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x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="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 * x)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x +=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3730C5-F140-4A9E-A35D-90DA4910C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72D46F5-0910-48EE-9B46-96987D84C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833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8. Escreva um programa que pergunte o depósito inicial e a taxa de juros de uma poupança. Exiba os valores mês a mês para os 24 primeiros meses. Escreva o total do ganho com juros no período.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deposito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"Valor do depósito inicial: R$"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taxa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"Valor da taxa de juros da poupança em porcentagem: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&lt;=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12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</a:t>
            </a:r>
            <a:r>
              <a:rPr lang="pt-BR" altLang="pt-BR" sz="2000" dirty="0">
                <a:solidFill>
                  <a:srgbClr val="A9B7C6"/>
                </a:solidFill>
                <a:latin typeface="JetBrains Mono"/>
              </a:rPr>
              <a:t>deposito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 </a:t>
            </a:r>
            <a:r>
              <a:rPr lang="pt-BR" altLang="pt-BR" sz="2000" dirty="0">
                <a:solidFill>
                  <a:srgbClr val="A9B7C6"/>
                </a:solidFill>
                <a:latin typeface="JetBrains Mono"/>
              </a:rPr>
              <a:t>deposito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</a:t>
            </a:r>
            <a:r>
              <a:rPr lang="pt-BR" altLang="pt-BR" sz="2000" dirty="0">
                <a:solidFill>
                  <a:srgbClr val="A9B7C6"/>
                </a:solidFill>
                <a:latin typeface="JetBrains Mono"/>
              </a:rPr>
              <a:t>(deposito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* (taxa /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f"Saldo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do mês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é de R$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lang="pt-BR" altLang="pt-BR" sz="2000" dirty="0">
                <a:solidFill>
                  <a:srgbClr val="A9B7C6"/>
                </a:solidFill>
                <a:latin typeface="JetBrains Mono"/>
              </a:rPr>
              <a:t>deposito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.2f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+=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ganho obtido com os juros foi de R$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lang="pt-BR" altLang="pt-BR" sz="2000" dirty="0">
                <a:solidFill>
                  <a:srgbClr val="A9B7C6"/>
                </a:solidFill>
                <a:latin typeface="JetBrains Mono"/>
              </a:rPr>
              <a:t>deposito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.2f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A142CE-0D1F-4441-93F5-D960759F8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463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2400" dirty="0"/>
              <a:t>9. Altere o programa anterior de forma a perguntar também o valor depositado mensalmente. Esse valor será depositado no início de cada mês e você deve considerá-lo para o cálculo de juros do mês seguinte.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deposito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"Valor do depósito inicial: R$"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taxa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"Valor da taxa de juros da poupança em porcentagem: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investimento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"Investimento mensal: R$"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&lt;=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12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pt-BR" altLang="pt-BR" sz="2000" dirty="0">
                <a:solidFill>
                  <a:srgbClr val="A9B7C6"/>
                </a:solidFill>
                <a:latin typeface="JetBrains Mono"/>
              </a:rPr>
              <a:t>deposito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 </a:t>
            </a:r>
            <a:r>
              <a:rPr lang="pt-BR" altLang="pt-BR" sz="2000" dirty="0">
                <a:solidFill>
                  <a:srgbClr val="A9B7C6"/>
                </a:solidFill>
                <a:latin typeface="JetBrains Mono"/>
              </a:rPr>
              <a:t>deposito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</a:t>
            </a:r>
            <a:r>
              <a:rPr lang="pt-BR" altLang="pt-BR" sz="2000" dirty="0">
                <a:solidFill>
                  <a:srgbClr val="A9B7C6"/>
                </a:solidFill>
                <a:latin typeface="JetBrains Mono"/>
              </a:rPr>
              <a:t>(deposito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* (taxa /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100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 + investimento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f"Saldo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do mês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é de R$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lang="pt-BR" altLang="pt-BR" sz="2000" dirty="0">
                <a:solidFill>
                  <a:srgbClr val="A9B7C6"/>
                </a:solidFill>
                <a:latin typeface="JetBrains Mono"/>
              </a:rPr>
              <a:t>deposito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.2f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+=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ganho obtido com os juros foi de </a:t>
            </a:r>
            <a:r>
              <a:rPr kumimoji="0" lang="pt-BR" altLang="pt-BR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R$</a:t>
            </a:r>
            <a:r>
              <a:rPr kumimoji="0" lang="pt-BR" altLang="pt-BR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lang="pt-BR" altLang="pt-BR" sz="2000">
                <a:solidFill>
                  <a:srgbClr val="A9B7C6"/>
                </a:solidFill>
                <a:latin typeface="JetBrains Mono"/>
              </a:rPr>
              <a:t>deposito</a:t>
            </a:r>
            <a:r>
              <a:rPr kumimoji="0" lang="pt-BR" altLang="pt-BR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:</a:t>
            </a:r>
            <a:r>
              <a:rPr kumimoji="0" lang="pt-BR" altLang="pt-BR" sz="20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2f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A142CE-0D1F-4441-93F5-D960759F8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0DE3B19-51E6-41C9-99E0-BA7FD1E6F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693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1"/>
          <a:lstStyle/>
          <a:p>
            <a:r>
              <a:rPr lang="pt-BR" sz="2000" dirty="0"/>
              <a:t>10. Escreva um programa que leia números inteiros do teclado. O programa deve ler os números até que o usuário digite 0 (zero). No final da execução, exiba a quantidade de números digitados, assim como a soma e a média aritmética.</a:t>
            </a:r>
          </a:p>
          <a:p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soma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quantidade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True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num =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"Digite um número inteiro: 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num ==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break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soma = soma + num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quantidade +=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"Quantidade de números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digitados:"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quantidade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"Soma ="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soma)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f"Média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=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(soma/quantidade)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.2f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D756A4-9411-4B39-8AAE-FAE65B60D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964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790C2-FB17-4C33-8E5C-1DABC5B6C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05AC5-BA5B-48F3-B632-2A6AF73BA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1"/>
          <a:lstStyle/>
          <a:p>
            <a:r>
              <a:rPr lang="pt-BR" sz="1400" dirty="0"/>
              <a:t>11. Escreva um programa para controlar uma pequena máquina registradora. Você deve solicitar ao usuário que digite o código do produto e a quantidade comprada. Utilize a tabela de códigos a seguir para obter o preço de cada produto:</a:t>
            </a:r>
          </a:p>
          <a:p>
            <a:r>
              <a:rPr lang="pt-BR" sz="1400" dirty="0"/>
              <a:t>Seu programa deve exibir o total das compras depois que o usuário digitar 0. Qualquer outro código deve gerar a mensagem de erro “Código inválido”.</a:t>
            </a:r>
          </a:p>
          <a:p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apagar 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while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True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codigo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"Código do produto (0 para sair): "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codigo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break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codigo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0.5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codigo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codigo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codigo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7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codigo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9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8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"Código inválido!"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!=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quantidade = 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input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"Quantidade: "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apagar = apagar+ (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preco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* quantidade)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pt-BR" altLang="pt-BR" sz="12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f"Total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a pagar R$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apagar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.2f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BAD61A20-FBBF-4515-B486-347994896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168762"/>
              </p:ext>
            </p:extLst>
          </p:nvPr>
        </p:nvGraphicFramePr>
        <p:xfrm>
          <a:off x="5363827" y="2319020"/>
          <a:ext cx="2952328" cy="221996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455387">
                  <a:extLst>
                    <a:ext uri="{9D8B030D-6E8A-4147-A177-3AD203B41FA5}">
                      <a16:colId xmlns:a16="http://schemas.microsoft.com/office/drawing/2014/main" val="2906421928"/>
                    </a:ext>
                  </a:extLst>
                </a:gridCol>
                <a:gridCol w="1496941">
                  <a:extLst>
                    <a:ext uri="{9D8B030D-6E8A-4147-A177-3AD203B41FA5}">
                      <a16:colId xmlns:a16="http://schemas.microsoft.com/office/drawing/2014/main" val="1794145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Código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Operação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639989"/>
                  </a:ext>
                </a:extLst>
              </a:tr>
              <a:tr h="133216"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/>
                        <a:t>1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0,50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869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/>
                        <a:t>2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1,00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0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/>
                        <a:t>3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4,00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92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/>
                        <a:t>5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7,00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983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/>
                        <a:t>9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solidFill>
                            <a:schemeClr val="tx1"/>
                          </a:solidFill>
                        </a:rPr>
                        <a:t>8,00</a:t>
                      </a:r>
                    </a:p>
                  </a:txBody>
                  <a:tcPr>
                    <a:solidFill>
                      <a:srgbClr val="EF0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16520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689C564-5A5E-4C83-B024-5C1DF34F3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77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BE6E2D3-FF02-4E61-8B8C-74D3036FE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65400"/>
            <a:ext cx="4679950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Copyright © </a:t>
            </a:r>
            <a:r>
              <a:rPr kumimoji="1" lang="en-US" sz="1400" b="1" dirty="0">
                <a:solidFill>
                  <a:schemeClr val="bg1">
                    <a:lumMod val="85000"/>
                  </a:schemeClr>
                </a:solidFill>
              </a:rPr>
              <a:t>2020  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Prof. </a:t>
            </a:r>
          </a:p>
          <a:p>
            <a:pPr eaLnBrk="1" hangingPunct="1">
              <a:defRPr/>
            </a:pPr>
            <a:endParaRPr kumimoji="1"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eaLnBrk="1" hangingPunct="1">
              <a:defRPr/>
            </a:pP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Todos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direitos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reservados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Reprodução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divulgação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total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parcial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deste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documento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é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expressamente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proíbido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sem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o </a:t>
            </a:r>
            <a:r>
              <a:rPr kumimoji="1" lang="pt-BR" sz="1400" dirty="0">
                <a:solidFill>
                  <a:schemeClr val="bg1">
                    <a:lumMod val="85000"/>
                  </a:schemeClr>
                </a:solidFill>
              </a:rPr>
              <a:t>consentimento formal, por escrito,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do Professor (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autor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5402</TotalTime>
  <Words>1111</Words>
  <Application>Microsoft Office PowerPoint</Application>
  <PresentationFormat>Apresentação na tela (4:3)</PresentationFormat>
  <Paragraphs>53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Arial</vt:lpstr>
      <vt:lpstr>Calibri</vt:lpstr>
      <vt:lpstr>JetBrains Mono</vt:lpstr>
      <vt:lpstr>Square721 BT</vt:lpstr>
      <vt:lpstr>Times New Roman</vt:lpstr>
      <vt:lpstr>2_Tema do Office</vt:lpstr>
      <vt:lpstr>6_Personalizar design</vt:lpstr>
      <vt:lpstr>1_Tema do Office</vt:lpstr>
      <vt:lpstr>Tema do Office</vt:lpstr>
      <vt:lpstr>Apresentação do PowerPoint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Susanne Andrade</dc:creator>
  <cp:lastModifiedBy>Michele Bazana</cp:lastModifiedBy>
  <cp:revision>456</cp:revision>
  <cp:lastPrinted>2015-08-20T10:58:19Z</cp:lastPrinted>
  <dcterms:created xsi:type="dcterms:W3CDTF">2012-10-02T15:58:15Z</dcterms:created>
  <dcterms:modified xsi:type="dcterms:W3CDTF">2022-04-20T14:55:00Z</dcterms:modified>
</cp:coreProperties>
</file>