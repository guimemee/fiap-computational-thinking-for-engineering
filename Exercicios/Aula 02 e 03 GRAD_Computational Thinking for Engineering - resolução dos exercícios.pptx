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1"/>
    <p:sldMasterId id="2147484994" r:id="rId2"/>
    <p:sldMasterId id="2147484987" r:id="rId3"/>
    <p:sldMasterId id="2147484787" r:id="rId4"/>
  </p:sldMasterIdLst>
  <p:notesMasterIdLst>
    <p:notesMasterId r:id="rId15"/>
  </p:notesMasterIdLst>
  <p:handoutMasterIdLst>
    <p:handoutMasterId r:id="rId16"/>
  </p:handoutMasterIdLst>
  <p:sldIdLst>
    <p:sldId id="471" r:id="rId5"/>
    <p:sldId id="499" r:id="rId6"/>
    <p:sldId id="509" r:id="rId7"/>
    <p:sldId id="516" r:id="rId8"/>
    <p:sldId id="517" r:id="rId9"/>
    <p:sldId id="518" r:id="rId10"/>
    <p:sldId id="510" r:id="rId11"/>
    <p:sldId id="519" r:id="rId12"/>
    <p:sldId id="515" r:id="rId13"/>
    <p:sldId id="444" r:id="rId14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614A94-E2EA-BC93-B8FD-8039B2B2F898}" name="Michele Bazana de Souza" initials="MBdS" userId="Michele Bazana de Souz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A4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8940" autoAdjust="0"/>
  </p:normalViewPr>
  <p:slideViewPr>
    <p:cSldViewPr showGuides="1">
      <p:cViewPr varScale="1">
        <p:scale>
          <a:sx n="74" d="100"/>
          <a:sy n="74" d="100"/>
        </p:scale>
        <p:origin x="124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notesViewPr>
    <p:cSldViewPr showGuides="1">
      <p:cViewPr>
        <p:scale>
          <a:sx n="90" d="100"/>
          <a:sy n="90" d="100"/>
        </p:scale>
        <p:origin x="2688" y="-61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46" descr="top ppt">
            <a:extLst>
              <a:ext uri="{FF2B5EF4-FFF2-40B4-BE49-F238E27FC236}">
                <a16:creationId xmlns:a16="http://schemas.microsoft.com/office/drawing/2014/main" id="{4F860F37-CA72-464D-9116-B6BC16A9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1450"/>
            <a:ext cx="68373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47">
            <a:extLst>
              <a:ext uri="{FF2B5EF4-FFF2-40B4-BE49-F238E27FC236}">
                <a16:creationId xmlns:a16="http://schemas.microsoft.com/office/drawing/2014/main" id="{70789427-4C6A-4A75-B31F-2E4759F472CD}"/>
              </a:ext>
            </a:extLst>
          </p:cNvPr>
          <p:cNvGraphicFramePr>
            <a:graphicFrameLocks noGrp="1"/>
          </p:cNvGraphicFramePr>
          <p:nvPr/>
        </p:nvGraphicFramePr>
        <p:xfrm>
          <a:off x="344488" y="8931275"/>
          <a:ext cx="6615112" cy="327025"/>
        </p:xfrm>
        <a:graphic>
          <a:graphicData uri="http://schemas.openxmlformats.org/drawingml/2006/table">
            <a:tbl>
              <a:tblPr/>
              <a:tblGrid>
                <a:gridCol w="56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em Engenharia de Software Orientada a Serviços (SOA)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lang="pt-BR" sz="800" dirty="0" err="1">
                          <a:latin typeface="Square721 BT" pitchFamily="34" charset="0"/>
                          <a:cs typeface="Calibri" pitchFamily="34" charset="0"/>
                        </a:rPr>
                        <a:t>Profª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. </a:t>
                      </a:r>
                      <a:r>
                        <a:rPr lang="en-US" sz="800" dirty="0" err="1">
                          <a:latin typeface="Square721 BT" pitchFamily="34" charset="0"/>
                          <a:cs typeface="Calibri" pitchFamily="34" charset="0"/>
                        </a:rPr>
                        <a:t>MSc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Susanne Anjos Andrade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</a:endParaRPr>
                    </a:p>
                  </a:txBody>
                  <a:tcPr marT="35541" marB="35541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35541" marB="35541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35">
            <a:extLst>
              <a:ext uri="{FF2B5EF4-FFF2-40B4-BE49-F238E27FC236}">
                <a16:creationId xmlns:a16="http://schemas.microsoft.com/office/drawing/2014/main" id="{2E86EE7D-ABE9-4FEF-943A-E8FC6FC1992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777288"/>
            <a:ext cx="307657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Square721 BT" pitchFamily="34" charset="0"/>
              </a:defRPr>
            </a:lvl1pPr>
          </a:lstStyle>
          <a:p>
            <a:pPr>
              <a:defRPr/>
            </a:pPr>
            <a:r>
              <a:rPr lang="pt-BR" altLang="pt-BR"/>
              <a:t>Página - </a:t>
            </a:r>
            <a:fld id="{61BF9E74-DAA4-4DE3-BDB4-B1097CD628B2}" type="slidenum">
              <a:rPr lang="pt-BR" altLang="pt-BR"/>
              <a:pPr>
                <a:defRPr/>
              </a:pPr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226DE4D-D64C-41F9-9DCC-8954A26D74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4D9C91-4FDB-4F9B-846F-98C2EF0CBD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fld id="{98BF8467-D8F0-4E80-9D68-0D77DCFBCAC4}" type="datetimeFigureOut">
              <a:rPr lang="pt-BR"/>
              <a:pPr>
                <a:defRPr/>
              </a:pPr>
              <a:t>24/03/2022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5ECC52DC-F9A3-4774-9A6C-4BCBFFCC5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26FA4C5-FAD6-4245-AAAE-77FDD33E0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21175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23617-D517-4A52-91C7-BCFDC3F8FA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99F0D-A39A-48E1-BA77-E94D22ED9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112334" tIns="56167" rIns="112334" bIns="5616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741D7E1-E712-4F31-8EE8-FB7881D963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37F24C-7147-490B-B2E0-A119D9077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8413" y="727075"/>
            <a:ext cx="4778375" cy="35845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E71195C-13CC-43FC-8561-60E69F79B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888" y="4573588"/>
            <a:ext cx="5297487" cy="3800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8"/>
            <a:ext cx="7056784" cy="504056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7916416" cy="518457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71355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808" cy="504800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63803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085203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337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7453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7056784" cy="504825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24165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6912768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1891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68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16247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81624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978297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4955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04984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421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128792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5054" y="1340768"/>
            <a:ext cx="8283409" cy="52565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8924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808" cy="5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58875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10100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29138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62809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1269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051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96" y="764704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199" y="1926754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1893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8514802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67544" y="836712"/>
            <a:ext cx="8229600" cy="5635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3762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1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5806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64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2154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09219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309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2405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95936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8951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9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21807878-B236-41FA-B2C2-33D4D8DDD1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02030B68-9EF9-491B-897D-28BCA02CE1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pic>
        <p:nvPicPr>
          <p:cNvPr id="1028" name="Picture 2" descr="C:\Users\cl0817\Desktop\MioloBranco.jpg">
            <a:extLst>
              <a:ext uri="{FF2B5EF4-FFF2-40B4-BE49-F238E27FC236}">
                <a16:creationId xmlns:a16="http://schemas.microsoft.com/office/drawing/2014/main" id="{C96B475A-E4E9-4E39-B6EF-38D0C27A47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Imagem 1">
            <a:extLst>
              <a:ext uri="{FF2B5EF4-FFF2-40B4-BE49-F238E27FC236}">
                <a16:creationId xmlns:a16="http://schemas.microsoft.com/office/drawing/2014/main" id="{9CCB3F0B-F6BB-4F73-BCAD-3FCC8FA1255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47" r:id="rId1"/>
    <p:sldLayoutId id="2147485048" r:id="rId2"/>
    <p:sldLayoutId id="2147485049" r:id="rId3"/>
    <p:sldLayoutId id="2147485050" r:id="rId4"/>
    <p:sldLayoutId id="2147485051" r:id="rId5"/>
    <p:sldLayoutId id="2147485052" r:id="rId6"/>
    <p:sldLayoutId id="2147485053" r:id="rId7"/>
    <p:sldLayoutId id="2147485054" r:id="rId8"/>
    <p:sldLayoutId id="2147485055" r:id="rId9"/>
    <p:sldLayoutId id="214748505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C738FB59-4157-458C-8F68-8BBFE91DF4E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C6919357-FA36-46F9-B6A3-800E32DC74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052" name="CaixaDeTexto 5">
            <a:extLst>
              <a:ext uri="{FF2B5EF4-FFF2-40B4-BE49-F238E27FC236}">
                <a16:creationId xmlns:a16="http://schemas.microsoft.com/office/drawing/2014/main" id="{58E61261-F8DE-4F81-B5AB-FAE871C42C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79838" y="3252788"/>
            <a:ext cx="176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BR" altLang="pt-BR" sz="2000" b="1"/>
              <a:t>TEMPLATE 2</a:t>
            </a:r>
          </a:p>
        </p:txBody>
      </p:sp>
      <p:pic>
        <p:nvPicPr>
          <p:cNvPr id="2053" name="Imagem 2">
            <a:extLst>
              <a:ext uri="{FF2B5EF4-FFF2-40B4-BE49-F238E27FC236}">
                <a16:creationId xmlns:a16="http://schemas.microsoft.com/office/drawing/2014/main" id="{B2FE3769-3D70-43CB-8CC2-98F328BBC77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7" r:id="rId1"/>
    <p:sldLayoutId id="2147485058" r:id="rId2"/>
    <p:sldLayoutId id="2147485059" r:id="rId3"/>
    <p:sldLayoutId id="2147485060" r:id="rId4"/>
    <p:sldLayoutId id="2147485061" r:id="rId5"/>
    <p:sldLayoutId id="2147485062" r:id="rId6"/>
    <p:sldLayoutId id="2147485063" r:id="rId7"/>
    <p:sldLayoutId id="2147485064" r:id="rId8"/>
    <p:sldLayoutId id="2147485065" r:id="rId9"/>
    <p:sldLayoutId id="2147485070" r:id="rId10"/>
    <p:sldLayoutId id="21474850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9F99352D-7981-4853-8146-425016D90C4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A6377868-E329-4BDD-9AD5-890AA2A4E7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C4475-8D3F-49D1-9BCF-B3A2D10D7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B76EEF-8037-4CDD-AF28-295BED34BD21}" type="datetimeFigureOut">
              <a:rPr lang="pt-BR"/>
              <a:pPr>
                <a:defRPr/>
              </a:pPr>
              <a:t>24/03/2022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3A43D-CC0E-447E-B830-D404D21A7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9C497-8C9E-4315-81E4-AF8CDC2DC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22FB65-073B-4846-92D5-81E90D2C19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3079" name="Picture 2" descr="C:\Users\cl0817\Desktop\CoringasLogos.jpg">
            <a:extLst>
              <a:ext uri="{FF2B5EF4-FFF2-40B4-BE49-F238E27FC236}">
                <a16:creationId xmlns:a16="http://schemas.microsoft.com/office/drawing/2014/main" id="{71BC5B46-04CB-4344-A51E-75769CB3A9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Imagem 7">
            <a:extLst>
              <a:ext uri="{FF2B5EF4-FFF2-40B4-BE49-F238E27FC236}">
                <a16:creationId xmlns:a16="http://schemas.microsoft.com/office/drawing/2014/main" id="{3F4B71C4-FB06-4128-83C4-B545D45DA68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Imagem 8">
            <a:extLst>
              <a:ext uri="{FF2B5EF4-FFF2-40B4-BE49-F238E27FC236}">
                <a16:creationId xmlns:a16="http://schemas.microsoft.com/office/drawing/2014/main" id="{5B38B3D8-C6E2-488B-BB15-BC5620E0E70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61463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71" r:id="rId1"/>
    <p:sldLayoutId id="2147485072" r:id="rId2"/>
    <p:sldLayoutId id="2147485073" r:id="rId3"/>
    <p:sldLayoutId id="2147485074" r:id="rId4"/>
    <p:sldLayoutId id="214748507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2546B3B6-845C-449C-860F-9FEA49F94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170740-16EF-4FCF-8500-0970327B1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100" t="15587" r="77600" b="77055"/>
          <a:stretch/>
        </p:blipFill>
        <p:spPr>
          <a:xfrm>
            <a:off x="98684" y="2789749"/>
            <a:ext cx="3565011" cy="6927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EBDE81-0E34-4AB5-9A21-80BD14AF475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380312" y="116632"/>
            <a:ext cx="1572394" cy="7934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9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Texto 1">
            <a:extLst>
              <a:ext uri="{FF2B5EF4-FFF2-40B4-BE49-F238E27FC236}">
                <a16:creationId xmlns:a16="http://schemas.microsoft.com/office/drawing/2014/main" id="{D1267B44-EE95-4C1E-A214-444624DB7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067175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 dirty="0"/>
              <a:t>COMPUTATION THINKING FOR ENGINEERING</a:t>
            </a:r>
            <a:endParaRPr lang="en-US" altLang="pt-BR" dirty="0"/>
          </a:p>
          <a:p>
            <a:endParaRPr lang="pt-BR" altLang="pt-BR" dirty="0"/>
          </a:p>
        </p:txBody>
      </p:sp>
      <p:sp>
        <p:nvSpPr>
          <p:cNvPr id="14339" name="Espaço Reservado para Texto 4">
            <a:extLst>
              <a:ext uri="{FF2B5EF4-FFF2-40B4-BE49-F238E27FC236}">
                <a16:creationId xmlns:a16="http://schemas.microsoft.com/office/drawing/2014/main" id="{9F62D58F-4C56-47EE-A965-7EAD57F53EA9}"/>
              </a:ext>
            </a:extLst>
          </p:cNvPr>
          <p:cNvSpPr txBox="1">
            <a:spLocks/>
          </p:cNvSpPr>
          <p:nvPr/>
        </p:nvSpPr>
        <p:spPr bwMode="auto">
          <a:xfrm>
            <a:off x="1619250" y="5805488"/>
            <a:ext cx="45735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b="1" dirty="0">
                <a:solidFill>
                  <a:srgbClr val="D9D9D9"/>
                </a:solidFill>
              </a:rPr>
              <a:t>Michele Bazana de Souza</a:t>
            </a:r>
            <a:r>
              <a:rPr lang="nb-NO" altLang="pt-BR" sz="1200" dirty="0">
                <a:solidFill>
                  <a:srgbClr val="D9D9D9"/>
                </a:solidFill>
              </a:rPr>
              <a:t> michele.souza@fiap.com.br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nb-NO" altLang="pt-BR" sz="1200" dirty="0">
              <a:solidFill>
                <a:srgbClr val="D9D9D9"/>
              </a:solidFill>
            </a:endParaRP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1. Faça um programa que exiba seu nome na tela.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"Michele"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2400" dirty="0"/>
              <a:t>2. Escreva um programa que exiba o resultado de 2</a:t>
            </a:r>
            <a:r>
              <a:rPr lang="pt-BR" sz="2400" i="1" dirty="0"/>
              <a:t>a </a:t>
            </a:r>
            <a:r>
              <a:rPr lang="pt-BR" sz="2400" dirty="0"/>
              <a:t>x 3</a:t>
            </a:r>
            <a:r>
              <a:rPr lang="pt-BR" sz="2400" i="1" dirty="0"/>
              <a:t>b</a:t>
            </a:r>
            <a:r>
              <a:rPr lang="pt-BR" sz="2400" dirty="0"/>
              <a:t>, em que </a:t>
            </a:r>
            <a:r>
              <a:rPr lang="pt-BR" sz="2400" i="1" dirty="0"/>
              <a:t>a</a:t>
            </a:r>
            <a:r>
              <a:rPr lang="pt-BR" sz="2400" dirty="0"/>
              <a:t> vale 3 e </a:t>
            </a:r>
            <a:r>
              <a:rPr lang="pt-BR" sz="2400" i="1" dirty="0"/>
              <a:t>b</a:t>
            </a:r>
            <a:r>
              <a:rPr lang="pt-BR" sz="2400" dirty="0"/>
              <a:t> vale 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* a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* b)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2400" dirty="0"/>
              <a:t>3. Escreva um programa que calcule a soma de três variáveis e imprima o resultado na tela.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soma = a + b + c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(soma)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4481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1. Faça um programa que peça dois números inteiros. Imprima a soma desses dois números na tela.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n1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1º número inteiro: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n2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2º número inteiro: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soma = n1 + n2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(soma)</a:t>
            </a:r>
            <a:endParaRPr lang="pt-BR" sz="2400" dirty="0"/>
          </a:p>
          <a:p>
            <a:r>
              <a:rPr lang="pt-BR" sz="2400" dirty="0"/>
              <a:t>2. Escreva um programa que leia um valor em metros e o exiba convertido em milímetros.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metros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valor em metros: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milimetros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metros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1000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valor convertido em milímetros é de:"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milimetros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</a:p>
          <a:p>
            <a:r>
              <a:rPr lang="pt-BR" altLang="pt-BR" sz="2400" dirty="0"/>
              <a:t>ou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metros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valor em metros: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milimetros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metros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1000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metros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m =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milimetros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mm"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86229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3. Escreva um programa que leia a quantidade de dias, horas, minutos e segundos do usuário. Calcule o total em segundos.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dias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a quantidade de dias: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horas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a quantidade de horas: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minutos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a quantidade de minutos: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segundos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a quantidade de segundos: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totalSegundos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(dias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24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60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+ (horas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60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+ (minutos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+ segundos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total em segundos é de:"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totalSegundos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445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4. Faça um programa que calcule o aumento de um salário. Ele deve solicitar o valor do salário e a porcentagem do aumento. Exiba o valor do aumento e do novo salário. 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salario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o valor do salário R$"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porcentagemAumento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a porcentagem do aumento: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valorAumento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salario *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porcentagemAumento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/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novoSalario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salario +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valorAumento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valor do aumento é de R$%.2f"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%valorAumento)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valor do novo salário é de R$%.2f"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%novoSalario)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8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5. Faça um programa que solicite o preço de uma mercadoria e o percentual de desconto. Exiba o valor do desconto e o preço a pagar. </a:t>
            </a:r>
          </a:p>
          <a:p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precoMercadoria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o preço da mercadoria R$"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percentualDesconto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o percentual de desconto: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valorDesconto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precoMercadoria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*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percentualDesconto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/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precoPagar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precoMercadoria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-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valorDesconto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valor do desconto é de R$%.2f"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%valorDesconto)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preço a pagar é de R$%.2f"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%precoPagar)</a:t>
            </a:r>
          </a:p>
          <a:p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54622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6. Escreva um programa que calcule o tempo de uma viagem de carro. Pergunte a distância a percorrer e a velocidade média esperada para a viagem.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distancia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"Qual a distância a percorrer em km?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velocidadeMedia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"Qual a velocidade média esperada para a viagem em km/h?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tempo = distancia /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velocidadeMedia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tempo para a viagem de carro é de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tempo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.2f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h."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2400" dirty="0"/>
              <a:t>7. Escreva um programa que converta uma temperatura digitada em ºC em </a:t>
            </a:r>
            <a:r>
              <a:rPr lang="pt-BR" sz="2400" dirty="0" err="1"/>
              <a:t>ºF</a:t>
            </a:r>
            <a:r>
              <a:rPr lang="pt-BR" sz="2400" dirty="0"/>
              <a:t>. A fórmula para essa conversão é F = ((9 x C) / 5) + 32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celsius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"Entre com a temperatura em ºC: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fahrenheit = ((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9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* celsius) /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+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32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celsius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ºC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fahrenheit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ºF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61151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8. Escreva um programa que pergunte a quantidade de km percorridos por um carro alugado pelo usuário, assim como a quantidade de dias pelos quais o carro foi alugado. Calcule o preço a pagar, sabendo que o carro custa R$60 por dia e R$0,15 por km rodado.</a:t>
            </a:r>
          </a:p>
          <a:p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quant_km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"Qual a quantidade de km percorridos pelo carro alugado?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quant_dias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"Qual a quantidade de dias pelos quais o carro foi alugado?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precoPagar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quant_dias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0.6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+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quant_km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0.15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preço a pagar é de R$%.2f"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%precoPagar)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5402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9. Escreva um programa que receba 2 valores do tipo inteiro x e y, e calcule o valor de z:</a:t>
            </a:r>
          </a:p>
          <a:p>
            <a:pPr algn="ctr"/>
            <a:r>
              <a:rPr lang="pt-BR" sz="2400" dirty="0"/>
              <a:t>z = (x</a:t>
            </a:r>
            <a:r>
              <a:rPr lang="pt-BR" sz="2400" baseline="30000" dirty="0"/>
              <a:t>2</a:t>
            </a:r>
            <a:r>
              <a:rPr lang="pt-BR" sz="2400" dirty="0"/>
              <a:t> + y</a:t>
            </a:r>
            <a:r>
              <a:rPr lang="pt-BR" sz="2400" baseline="30000" dirty="0"/>
              <a:t>2</a:t>
            </a:r>
            <a:r>
              <a:rPr lang="pt-BR" sz="2400" dirty="0"/>
              <a:t>) / (x – y)</a:t>
            </a:r>
            <a:r>
              <a:rPr lang="pt-BR" sz="2400" baseline="30000" dirty="0"/>
              <a:t>2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"x =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y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"y =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z = (x**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y**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/ (x - y)**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"z ="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z)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2400" dirty="0"/>
              <a:t>10. Escreva um programa que receba o salário de um funcionário (</a:t>
            </a:r>
            <a:r>
              <a:rPr lang="pt-BR" sz="2400" dirty="0" err="1"/>
              <a:t>float</a:t>
            </a:r>
            <a:r>
              <a:rPr lang="pt-BR" sz="2400" dirty="0"/>
              <a:t>) e retorne o resultado do novo salário com reajuste de 35%.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salario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o valor do salário: R$"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 valor do novo salário é de R$%.2f"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%(salario *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1.35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)+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90078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BE6E2D3-FF02-4E61-8B8C-74D3036F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65400"/>
            <a:ext cx="4679950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Copyright © </a:t>
            </a:r>
            <a:r>
              <a:rPr kumimoji="1" lang="en-US" sz="1400" b="1" dirty="0">
                <a:solidFill>
                  <a:schemeClr val="bg1">
                    <a:lumMod val="85000"/>
                  </a:schemeClr>
                </a:solidFill>
              </a:rPr>
              <a:t>2020  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Prof. </a:t>
            </a:r>
          </a:p>
          <a:p>
            <a:pPr eaLnBrk="1" hangingPunct="1">
              <a:defRPr/>
            </a:pPr>
            <a:endParaRPr kumimoji="1"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eaLnBrk="1" hangingPunct="1">
              <a:defRPr/>
            </a:pP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Todos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direitos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reservados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Reprodução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divulgação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total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parcial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deste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documento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é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expressamente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proíbido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kumimoji="1" lang="pt-BR" sz="1400" dirty="0">
                <a:solidFill>
                  <a:schemeClr val="bg1">
                    <a:lumMod val="85000"/>
                  </a:schemeClr>
                </a:solidFill>
              </a:rPr>
              <a:t>consentimento formal, por escrito,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do Professor (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autor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6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2465</TotalTime>
  <Words>1082</Words>
  <Application>Microsoft Office PowerPoint</Application>
  <PresentationFormat>Apresentação na tela (4:3)</PresentationFormat>
  <Paragraphs>48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Calibri</vt:lpstr>
      <vt:lpstr>JetBrains Mono</vt:lpstr>
      <vt:lpstr>Square721 BT</vt:lpstr>
      <vt:lpstr>Times New Roman</vt:lpstr>
      <vt:lpstr>Tema do Office</vt:lpstr>
      <vt:lpstr>2_Tema do Office</vt:lpstr>
      <vt:lpstr>6_Personalizar design</vt:lpstr>
      <vt:lpstr>1_Tema do Office</vt:lpstr>
      <vt:lpstr>Apresentação do PowerPoint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Michele Bazana de Souza</cp:lastModifiedBy>
  <cp:revision>410</cp:revision>
  <cp:lastPrinted>2015-08-20T10:58:19Z</cp:lastPrinted>
  <dcterms:created xsi:type="dcterms:W3CDTF">2012-10-02T15:58:15Z</dcterms:created>
  <dcterms:modified xsi:type="dcterms:W3CDTF">2022-03-24T20:35:27Z</dcterms:modified>
</cp:coreProperties>
</file>