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994" r:id="rId1"/>
    <p:sldMasterId id="2147484987" r:id="rId2"/>
    <p:sldMasterId id="2147484787" r:id="rId3"/>
    <p:sldMasterId id="2147485076" r:id="rId4"/>
  </p:sldMasterIdLst>
  <p:notesMasterIdLst>
    <p:notesMasterId r:id="rId10"/>
  </p:notesMasterIdLst>
  <p:handoutMasterIdLst>
    <p:handoutMasterId r:id="rId11"/>
  </p:handoutMasterIdLst>
  <p:sldIdLst>
    <p:sldId id="471" r:id="rId5"/>
    <p:sldId id="509" r:id="rId6"/>
    <p:sldId id="520" r:id="rId7"/>
    <p:sldId id="523" r:id="rId8"/>
    <p:sldId id="444" r:id="rId9"/>
  </p:sldIdLst>
  <p:sldSz cx="9144000" cy="6858000" type="screen4x3"/>
  <p:notesSz cx="7315200" cy="96012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8614A94-E2EA-BC93-B8FD-8039B2B2F898}" name="Michele Bazana de Souza" initials="MBdS" userId="Michele Bazana de Souz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0A4F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91" autoAdjust="0"/>
    <p:restoredTop sz="98940" autoAdjust="0"/>
  </p:normalViewPr>
  <p:slideViewPr>
    <p:cSldViewPr showGuides="1">
      <p:cViewPr varScale="1">
        <p:scale>
          <a:sx n="74" d="100"/>
          <a:sy n="74" d="100"/>
        </p:scale>
        <p:origin x="124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60"/>
    </p:cViewPr>
  </p:sorterViewPr>
  <p:notesViewPr>
    <p:cSldViewPr showGuides="1">
      <p:cViewPr>
        <p:scale>
          <a:sx n="90" d="100"/>
          <a:sy n="90" d="100"/>
        </p:scale>
        <p:origin x="2688" y="-618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146" descr="top ppt">
            <a:extLst>
              <a:ext uri="{FF2B5EF4-FFF2-40B4-BE49-F238E27FC236}">
                <a16:creationId xmlns:a16="http://schemas.microsoft.com/office/drawing/2014/main" id="{4F860F37-CA72-464D-9116-B6BC16A93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" y="171450"/>
            <a:ext cx="6837363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Group 147">
            <a:extLst>
              <a:ext uri="{FF2B5EF4-FFF2-40B4-BE49-F238E27FC236}">
                <a16:creationId xmlns:a16="http://schemas.microsoft.com/office/drawing/2014/main" id="{70789427-4C6A-4A75-B31F-2E4759F472CD}"/>
              </a:ext>
            </a:extLst>
          </p:cNvPr>
          <p:cNvGraphicFramePr>
            <a:graphicFrameLocks noGrp="1"/>
          </p:cNvGraphicFramePr>
          <p:nvPr/>
        </p:nvGraphicFramePr>
        <p:xfrm>
          <a:off x="344488" y="8931275"/>
          <a:ext cx="6615112" cy="327025"/>
        </p:xfrm>
        <a:graphic>
          <a:graphicData uri="http://schemas.openxmlformats.org/drawingml/2006/table">
            <a:tbl>
              <a:tblPr/>
              <a:tblGrid>
                <a:gridCol w="567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quare721 BT" pitchFamily="34" charset="0"/>
                          <a:cs typeface="Times New Roman" pitchFamily="18" charset="0"/>
                        </a:rPr>
                        <a:t>MBA em Engenharia de Software Orientada a Serviços (SOA)</a:t>
                      </a: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quare721 BT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r>
                        <a:rPr lang="pt-BR" sz="800" dirty="0" err="1">
                          <a:latin typeface="Square721 BT" pitchFamily="34" charset="0"/>
                          <a:cs typeface="Calibri" pitchFamily="34" charset="0"/>
                        </a:rPr>
                        <a:t>Profª</a:t>
                      </a:r>
                      <a:r>
                        <a:rPr lang="pt-BR" sz="800" dirty="0">
                          <a:latin typeface="Square721 BT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US" sz="800" dirty="0">
                          <a:latin typeface="Square721 BT" pitchFamily="34" charset="0"/>
                          <a:cs typeface="Calibri" pitchFamily="34" charset="0"/>
                        </a:rPr>
                        <a:t>. </a:t>
                      </a:r>
                      <a:r>
                        <a:rPr lang="en-US" sz="800" dirty="0" err="1">
                          <a:latin typeface="Square721 BT" pitchFamily="34" charset="0"/>
                          <a:cs typeface="Calibri" pitchFamily="34" charset="0"/>
                        </a:rPr>
                        <a:t>MSc</a:t>
                      </a:r>
                      <a:r>
                        <a:rPr lang="en-US" sz="800" dirty="0">
                          <a:latin typeface="Square721 BT" pitchFamily="34" charset="0"/>
                          <a:cs typeface="Calibri" pitchFamily="34" charset="0"/>
                        </a:rPr>
                        <a:t> </a:t>
                      </a:r>
                      <a:r>
                        <a:rPr lang="pt-BR" sz="800" dirty="0">
                          <a:latin typeface="Square721 BT" pitchFamily="34" charset="0"/>
                          <a:cs typeface="Calibri" pitchFamily="34" charset="0"/>
                        </a:rPr>
                        <a:t>Susanne Anjos Andrade</a:t>
                      </a: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quare721 BT" pitchFamily="34" charset="0"/>
                      </a:endParaRPr>
                    </a:p>
                  </a:txBody>
                  <a:tcPr marT="35541" marB="35541" anchor="ctr"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endParaRPr kumimoji="0" lang="pt-B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35541" marB="35541" anchor="ctr"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135">
            <a:extLst>
              <a:ext uri="{FF2B5EF4-FFF2-40B4-BE49-F238E27FC236}">
                <a16:creationId xmlns:a16="http://schemas.microsoft.com/office/drawing/2014/main" id="{2E86EE7D-ABE9-4FEF-943A-E8FC6FC1992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2550" y="8777288"/>
            <a:ext cx="3076575" cy="39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Square721 BT" pitchFamily="34" charset="0"/>
              </a:defRPr>
            </a:lvl1pPr>
          </a:lstStyle>
          <a:p>
            <a:pPr>
              <a:defRPr/>
            </a:pPr>
            <a:r>
              <a:rPr lang="pt-BR" altLang="pt-BR"/>
              <a:t>Página - </a:t>
            </a:r>
            <a:fld id="{61BF9E74-DAA4-4DE3-BDB4-B1097CD628B2}" type="slidenum">
              <a:rPr lang="pt-BR" altLang="pt-BR"/>
              <a:pPr>
                <a:defRPr/>
              </a:pPr>
              <a:t>‹nº›</a:t>
            </a:fld>
            <a:r>
              <a:rPr lang="pt-BR" altLang="pt-B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226DE4D-D64C-41F9-9DCC-8954A26D74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112334" tIns="56167" rIns="112334" bIns="56167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4D9C91-4FDB-4F9B-846F-98C2EF0CBD3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112334" tIns="56167" rIns="112334" bIns="56167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fld id="{98BF8467-D8F0-4E80-9D68-0D77DCFBCAC4}" type="datetimeFigureOut">
              <a:rPr lang="pt-BR"/>
              <a:pPr>
                <a:defRPr/>
              </a:pPr>
              <a:t>03/05/2022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5ECC52DC-F9A3-4774-9A6C-4BCBFFCC59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2334" tIns="56167" rIns="112334" bIns="56167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426FA4C5-FAD6-4245-AAAE-77FDD33E00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21175"/>
          </a:xfrm>
          <a:prstGeom prst="rect">
            <a:avLst/>
          </a:prstGeom>
        </p:spPr>
        <p:txBody>
          <a:bodyPr vert="horz" lIns="112334" tIns="56167" rIns="112334" bIns="56167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D23617-D517-4A52-91C7-BCFDC3F8FA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112334" tIns="56167" rIns="112334" bIns="56167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299F0D-A39A-48E1-BA77-E94D22ED9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112334" tIns="56167" rIns="112334" bIns="5616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5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741D7E1-E712-4F31-8EE8-FB7881D9635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037F24C-7147-490B-B2E0-A119D90779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68413" y="727075"/>
            <a:ext cx="4778375" cy="358457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8E71195C-13CC-43FC-8561-60E69F79BE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04888" y="4573588"/>
            <a:ext cx="5297487" cy="3800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7544" y="116632"/>
            <a:ext cx="7128792" cy="792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5054" y="1340768"/>
            <a:ext cx="8283409" cy="5256584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89249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272808" cy="50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158875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310100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129138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962809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981269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051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64704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35896" y="764704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199" y="1926754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71893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851480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67544" y="836712"/>
            <a:ext cx="8229600" cy="56355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83762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413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5580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664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6215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0921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5309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2405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3995936" y="2708920"/>
            <a:ext cx="3529012" cy="79273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5895154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9552" y="260648"/>
            <a:ext cx="7056784" cy="504056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536" y="1268760"/>
            <a:ext cx="7916416" cy="5184576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261144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7272808" cy="504800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1499657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9069263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7272337" cy="504825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8682880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3" y="260648"/>
            <a:ext cx="7056784" cy="504825"/>
          </a:xfrm>
        </p:spPr>
        <p:txBody>
          <a:bodyPr/>
          <a:lstStyle>
            <a:lvl1pPr>
              <a:defRPr/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758916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3" y="260648"/>
            <a:ext cx="6912768" cy="504825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0001237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49307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816247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816247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978297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7223346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3895264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808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8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7.jpe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ço Reservado para Título 1">
            <a:extLst>
              <a:ext uri="{FF2B5EF4-FFF2-40B4-BE49-F238E27FC236}">
                <a16:creationId xmlns:a16="http://schemas.microsoft.com/office/drawing/2014/main" id="{C738FB59-4157-458C-8F68-8BBFE91DF4E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95288" y="260350"/>
            <a:ext cx="72723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2051" name="Espaço Reservado para Texto 2">
            <a:extLst>
              <a:ext uri="{FF2B5EF4-FFF2-40B4-BE49-F238E27FC236}">
                <a16:creationId xmlns:a16="http://schemas.microsoft.com/office/drawing/2014/main" id="{C6919357-FA36-46F9-B6A3-800E32DC74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95288" y="1165225"/>
            <a:ext cx="8497887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2052" name="CaixaDeTexto 5">
            <a:extLst>
              <a:ext uri="{FF2B5EF4-FFF2-40B4-BE49-F238E27FC236}">
                <a16:creationId xmlns:a16="http://schemas.microsoft.com/office/drawing/2014/main" id="{58E61261-F8DE-4F81-B5AB-FAE871C42C9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779838" y="3252788"/>
            <a:ext cx="17637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pt-BR" altLang="pt-BR" sz="2000" b="1"/>
              <a:t>TEMPLATE 2</a:t>
            </a:r>
          </a:p>
        </p:txBody>
      </p:sp>
      <p:pic>
        <p:nvPicPr>
          <p:cNvPr id="2053" name="Imagem 2">
            <a:extLst>
              <a:ext uri="{FF2B5EF4-FFF2-40B4-BE49-F238E27FC236}">
                <a16:creationId xmlns:a16="http://schemas.microsoft.com/office/drawing/2014/main" id="{B2FE3769-3D70-43CB-8CC2-98F328BBC77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57" r:id="rId1"/>
    <p:sldLayoutId id="2147485058" r:id="rId2"/>
    <p:sldLayoutId id="2147485059" r:id="rId3"/>
    <p:sldLayoutId id="2147485060" r:id="rId4"/>
    <p:sldLayoutId id="2147485061" r:id="rId5"/>
    <p:sldLayoutId id="2147485062" r:id="rId6"/>
    <p:sldLayoutId id="2147485063" r:id="rId7"/>
    <p:sldLayoutId id="2147485064" r:id="rId8"/>
    <p:sldLayoutId id="2147485065" r:id="rId9"/>
    <p:sldLayoutId id="2147485070" r:id="rId10"/>
    <p:sldLayoutId id="214748506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ço Reservado para Título 1">
            <a:extLst>
              <a:ext uri="{FF2B5EF4-FFF2-40B4-BE49-F238E27FC236}">
                <a16:creationId xmlns:a16="http://schemas.microsoft.com/office/drawing/2014/main" id="{9F99352D-7981-4853-8146-425016D90C4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3075" name="Espaço Reservado para Texto 2">
            <a:extLst>
              <a:ext uri="{FF2B5EF4-FFF2-40B4-BE49-F238E27FC236}">
                <a16:creationId xmlns:a16="http://schemas.microsoft.com/office/drawing/2014/main" id="{A6377868-E329-4BDD-9AD5-890AA2A4E7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8C4475-8D3F-49D1-9BCF-B3A2D10D7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6B76EEF-8037-4CDD-AF28-295BED34BD21}" type="datetimeFigureOut">
              <a:rPr lang="pt-BR"/>
              <a:pPr>
                <a:defRPr/>
              </a:pPr>
              <a:t>03/05/2022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23A43D-CC0E-447E-B830-D404D21A71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D9C497-8C9E-4315-81E4-AF8CDC2DC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022FB65-073B-4846-92D5-81E90D2C195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pic>
        <p:nvPicPr>
          <p:cNvPr id="3079" name="Picture 2" descr="C:\Users\cl0817\Desktop\CoringasLogos.jpg">
            <a:extLst>
              <a:ext uri="{FF2B5EF4-FFF2-40B4-BE49-F238E27FC236}">
                <a16:creationId xmlns:a16="http://schemas.microsoft.com/office/drawing/2014/main" id="{71BC5B46-04CB-4344-A51E-75769CB3A9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Imagem 7">
            <a:extLst>
              <a:ext uri="{FF2B5EF4-FFF2-40B4-BE49-F238E27FC236}">
                <a16:creationId xmlns:a16="http://schemas.microsoft.com/office/drawing/2014/main" id="{3F4B71C4-FB06-4128-83C4-B545D45DA68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146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Imagem 8">
            <a:extLst>
              <a:ext uri="{FF2B5EF4-FFF2-40B4-BE49-F238E27FC236}">
                <a16:creationId xmlns:a16="http://schemas.microsoft.com/office/drawing/2014/main" id="{5B38B3D8-C6E2-488B-BB15-BC5620E0E70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92275"/>
            <a:ext cx="9161463" cy="390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71" r:id="rId1"/>
    <p:sldLayoutId id="2147485072" r:id="rId2"/>
    <p:sldLayoutId id="2147485073" r:id="rId3"/>
    <p:sldLayoutId id="2147485074" r:id="rId4"/>
    <p:sldLayoutId id="2147485075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m 1">
            <a:extLst>
              <a:ext uri="{FF2B5EF4-FFF2-40B4-BE49-F238E27FC236}">
                <a16:creationId xmlns:a16="http://schemas.microsoft.com/office/drawing/2014/main" id="{2546B3B6-845C-449C-860F-9FEA49F94A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F170740-16EF-4FCF-8500-0970327B14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1100" t="15587" r="77600" b="77055"/>
          <a:stretch/>
        </p:blipFill>
        <p:spPr>
          <a:xfrm>
            <a:off x="98684" y="2789749"/>
            <a:ext cx="3565011" cy="69272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1EBDE81-0E34-4AB5-9A21-80BD14AF475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380312" y="116632"/>
            <a:ext cx="1572394" cy="7934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67" r:id="rId1"/>
    <p:sldLayoutId id="2147485069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21807878-B236-41FA-B2C2-33D4D8DDD15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95288" y="260350"/>
            <a:ext cx="72723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02030B68-9EF9-491B-897D-28BCA02CE1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95288" y="1165225"/>
            <a:ext cx="8497887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pic>
        <p:nvPicPr>
          <p:cNvPr id="1028" name="Picture 2" descr="C:\Users\cl0817\Desktop\MioloBranco.jpg">
            <a:extLst>
              <a:ext uri="{FF2B5EF4-FFF2-40B4-BE49-F238E27FC236}">
                <a16:creationId xmlns:a16="http://schemas.microsoft.com/office/drawing/2014/main" id="{C96B475A-E4E9-4E39-B6EF-38D0C27A47A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Imagem 1">
            <a:extLst>
              <a:ext uri="{FF2B5EF4-FFF2-40B4-BE49-F238E27FC236}">
                <a16:creationId xmlns:a16="http://schemas.microsoft.com/office/drawing/2014/main" id="{9CCB3F0B-F6BB-4F73-BCAD-3FCC8FA1255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4216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7" r:id="rId1"/>
    <p:sldLayoutId id="2147485078" r:id="rId2"/>
    <p:sldLayoutId id="2147485079" r:id="rId3"/>
    <p:sldLayoutId id="2147485080" r:id="rId4"/>
    <p:sldLayoutId id="2147485081" r:id="rId5"/>
    <p:sldLayoutId id="2147485082" r:id="rId6"/>
    <p:sldLayoutId id="2147485083" r:id="rId7"/>
    <p:sldLayoutId id="2147485084" r:id="rId8"/>
    <p:sldLayoutId id="2147485085" r:id="rId9"/>
    <p:sldLayoutId id="2147485086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ço Reservado para Texto 1">
            <a:extLst>
              <a:ext uri="{FF2B5EF4-FFF2-40B4-BE49-F238E27FC236}">
                <a16:creationId xmlns:a16="http://schemas.microsoft.com/office/drawing/2014/main" id="{D1267B44-EE95-4C1E-A214-444624DB79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4067175" y="2781300"/>
            <a:ext cx="3529013" cy="7921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altLang="pt-BR" dirty="0"/>
              <a:t>COMPUTATION THINKING FOR ENGINEERING</a:t>
            </a:r>
            <a:endParaRPr lang="en-US" altLang="pt-BR"/>
          </a:p>
          <a:p>
            <a:endParaRPr lang="pt-BR" altLang="pt-BR" dirty="0"/>
          </a:p>
        </p:txBody>
      </p:sp>
      <p:sp>
        <p:nvSpPr>
          <p:cNvPr id="14339" name="Espaço Reservado para Texto 4">
            <a:extLst>
              <a:ext uri="{FF2B5EF4-FFF2-40B4-BE49-F238E27FC236}">
                <a16:creationId xmlns:a16="http://schemas.microsoft.com/office/drawing/2014/main" id="{9F62D58F-4C56-47EE-A965-7EAD57F53EA9}"/>
              </a:ext>
            </a:extLst>
          </p:cNvPr>
          <p:cNvSpPr txBox="1">
            <a:spLocks/>
          </p:cNvSpPr>
          <p:nvPr/>
        </p:nvSpPr>
        <p:spPr bwMode="auto">
          <a:xfrm>
            <a:off x="1619250" y="5805488"/>
            <a:ext cx="4573588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nb-NO" altLang="pt-BR" sz="1200" b="1" dirty="0">
                <a:solidFill>
                  <a:srgbClr val="D9D9D9"/>
                </a:solidFill>
              </a:rPr>
              <a:t>Michele Bazana de Souza</a:t>
            </a:r>
            <a:r>
              <a:rPr lang="nb-NO" altLang="pt-BR" sz="1200" dirty="0">
                <a:solidFill>
                  <a:srgbClr val="D9D9D9"/>
                </a:solidFill>
              </a:rPr>
              <a:t> michele.souza@fiap.com.br</a:t>
            </a:r>
          </a:p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nb-NO" altLang="pt-BR" sz="1200" dirty="0">
              <a:solidFill>
                <a:srgbClr val="D9D9D9"/>
              </a:solidFill>
            </a:endParaRPr>
          </a:p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nb-NO" altLang="pt-BR" sz="1200" dirty="0">
                <a:solidFill>
                  <a:srgbClr val="D9D9D9"/>
                </a:solidFill>
              </a:rPr>
              <a:t>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1. Escreva um programa para ler 7 notas e calcular a média aritmética. </a:t>
            </a:r>
          </a:p>
          <a:p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notas = [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soma =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=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while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&lt;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7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notas[x] =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f"Nota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x+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= "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soma += notas[x]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x +=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f"Média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=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(soma/x)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.2f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pt-BR" altLang="pt-B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386229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2. Faça um programa que leia duas listas e que gere uma terceira com os elementos das duas primeiras.</a:t>
            </a:r>
          </a:p>
          <a:p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L = []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V = []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while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True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lista1 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"Digite um valor para 1ª lista (fim para terminar):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lista1 ==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"fim"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break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L.append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(lista1)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while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True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lista2 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"Digite um valor para 2ª lista (fim para terminar):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lista2 ==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"fim"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break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V.append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(lista2)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Z = []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Z.extend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(L + V)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(Z)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199381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3. Modifique o exemplo anterior de forma a realizar a mesma tarefa, mas sem utilizar a variável achou. Dica: observe a condição de saída do </a:t>
            </a:r>
            <a:r>
              <a:rPr lang="pt-BR" sz="2400" dirty="0" err="1"/>
              <a:t>while</a:t>
            </a:r>
            <a:r>
              <a:rPr lang="pt-BR" sz="2400" dirty="0"/>
              <a:t>.</a:t>
            </a:r>
          </a:p>
          <a:p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L = [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15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7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27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39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pesquisa =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"Digite o valor a pesquisar: "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=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while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&lt;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len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(L):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L[x] == pesquisa: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break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+=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&lt;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len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(L):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pesquisa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achado na posição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."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else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pesquisa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não encontrado."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pt-BR" altLang="pt-B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687648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BBE6E2D3-FF02-4E61-8B8C-74D3036FE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565400"/>
            <a:ext cx="4679950" cy="1385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1" hangingPunct="1">
              <a:defRPr/>
            </a:pP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Copyright © </a:t>
            </a:r>
            <a:r>
              <a:rPr kumimoji="1" lang="en-US" sz="1400" b="1" dirty="0">
                <a:solidFill>
                  <a:schemeClr val="bg1">
                    <a:lumMod val="85000"/>
                  </a:schemeClr>
                </a:solidFill>
              </a:rPr>
              <a:t>2020  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Prof. </a:t>
            </a:r>
          </a:p>
          <a:p>
            <a:pPr eaLnBrk="1" hangingPunct="1">
              <a:defRPr/>
            </a:pPr>
            <a:endParaRPr kumimoji="1" lang="en-US" sz="1400" dirty="0">
              <a:solidFill>
                <a:schemeClr val="bg1">
                  <a:lumMod val="85000"/>
                </a:schemeClr>
              </a:solidFill>
            </a:endParaRPr>
          </a:p>
          <a:p>
            <a:pPr eaLnBrk="1" hangingPunct="1">
              <a:defRPr/>
            </a:pP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Todos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direitos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reservados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Reprodução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ou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divulgação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total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ou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parcial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deste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documento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é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expressamente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proíbido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sem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o </a:t>
            </a:r>
            <a:r>
              <a:rPr kumimoji="1" lang="pt-BR" sz="1400" dirty="0">
                <a:solidFill>
                  <a:schemeClr val="bg1">
                    <a:lumMod val="85000"/>
                  </a:schemeClr>
                </a:solidFill>
              </a:rPr>
              <a:t>consentimento formal, por escrito,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do Professor (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autor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6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6295</TotalTime>
  <Words>398</Words>
  <Application>Microsoft Office PowerPoint</Application>
  <PresentationFormat>Apresentação na tela (4:3)</PresentationFormat>
  <Paragraphs>16</Paragraphs>
  <Slides>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5</vt:i4>
      </vt:variant>
    </vt:vector>
  </HeadingPairs>
  <TitlesOfParts>
    <vt:vector size="14" baseType="lpstr">
      <vt:lpstr>Arial</vt:lpstr>
      <vt:lpstr>Calibri</vt:lpstr>
      <vt:lpstr>JetBrains Mono</vt:lpstr>
      <vt:lpstr>Square721 BT</vt:lpstr>
      <vt:lpstr>Times New Roman</vt:lpstr>
      <vt:lpstr>2_Tema do Office</vt:lpstr>
      <vt:lpstr>6_Personalizar design</vt:lpstr>
      <vt:lpstr>1_Tema do Office</vt:lpstr>
      <vt:lpstr>Tema do Office</vt:lpstr>
      <vt:lpstr>Apresentação do PowerPoint</vt:lpstr>
      <vt:lpstr>Exercício</vt:lpstr>
      <vt:lpstr>Exercício</vt:lpstr>
      <vt:lpstr>Exercício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Susanne Andrade</dc:creator>
  <cp:lastModifiedBy>Michele Bazana</cp:lastModifiedBy>
  <cp:revision>479</cp:revision>
  <cp:lastPrinted>2015-08-20T10:58:19Z</cp:lastPrinted>
  <dcterms:created xsi:type="dcterms:W3CDTF">2012-10-02T15:58:15Z</dcterms:created>
  <dcterms:modified xsi:type="dcterms:W3CDTF">2022-05-03T20:02:40Z</dcterms:modified>
</cp:coreProperties>
</file>