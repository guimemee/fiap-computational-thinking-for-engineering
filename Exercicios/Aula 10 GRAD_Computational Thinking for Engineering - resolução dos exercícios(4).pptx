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3.xml" ContentType="application/vnd.openxmlformats-officedocument.theme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994" r:id="rId1"/>
    <p:sldMasterId id="2147484987" r:id="rId2"/>
    <p:sldMasterId id="2147484787" r:id="rId3"/>
    <p:sldMasterId id="2147485076" r:id="rId4"/>
  </p:sldMasterIdLst>
  <p:notesMasterIdLst>
    <p:notesMasterId r:id="rId14"/>
  </p:notesMasterIdLst>
  <p:handoutMasterIdLst>
    <p:handoutMasterId r:id="rId15"/>
  </p:handoutMasterIdLst>
  <p:sldIdLst>
    <p:sldId id="471" r:id="rId5"/>
    <p:sldId id="532" r:id="rId6"/>
    <p:sldId id="533" r:id="rId7"/>
    <p:sldId id="525" r:id="rId8"/>
    <p:sldId id="526" r:id="rId9"/>
    <p:sldId id="527" r:id="rId10"/>
    <p:sldId id="528" r:id="rId11"/>
    <p:sldId id="534" r:id="rId12"/>
    <p:sldId id="444" r:id="rId13"/>
  </p:sldIdLst>
  <p:sldSz cx="9144000" cy="6858000" type="screen4x3"/>
  <p:notesSz cx="7315200" cy="9601200"/>
  <p:defaultTextStyle>
    <a:defPPr>
      <a:defRPr lang="pt-BR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>
          <p15:clr>
            <a:srgbClr val="A4A3A4"/>
          </p15:clr>
        </p15:guide>
        <p15:guide id="2" pos="2304">
          <p15:clr>
            <a:srgbClr val="A4A3A4"/>
          </p15:clr>
        </p15:guide>
      </p15:notes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8614A94-E2EA-BC93-B8FD-8039B2B2F898}" name="Michele Bazana de Souza" initials="MBdS" userId="Michele Bazana de Souza" providerId="Non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F0A4F"/>
    <a:srgbClr val="CC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Estilo Médio 2 - Ênfas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Estilo Médio 2 - Ênfas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216" autoAdjust="0"/>
    <p:restoredTop sz="95890" autoAdjust="0"/>
  </p:normalViewPr>
  <p:slideViewPr>
    <p:cSldViewPr showGuides="1">
      <p:cViewPr>
        <p:scale>
          <a:sx n="120" d="100"/>
          <a:sy n="120" d="100"/>
        </p:scale>
        <p:origin x="1480" y="-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5760"/>
    </p:cViewPr>
  </p:sorterViewPr>
  <p:notesViewPr>
    <p:cSldViewPr showGuides="1">
      <p:cViewPr>
        <p:scale>
          <a:sx n="90" d="100"/>
          <a:sy n="90" d="100"/>
        </p:scale>
        <p:origin x="2688" y="-618"/>
      </p:cViewPr>
      <p:guideLst>
        <p:guide orient="horz" pos="3024"/>
        <p:guide pos="230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20" Type="http://schemas.microsoft.com/office/2018/10/relationships/authors" Target="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146" descr="top ppt">
            <a:extLst>
              <a:ext uri="{FF2B5EF4-FFF2-40B4-BE49-F238E27FC236}">
                <a16:creationId xmlns:a16="http://schemas.microsoft.com/office/drawing/2014/main" id="{4F860F37-CA72-464D-9116-B6BC16A93F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275" y="171450"/>
            <a:ext cx="6837363" cy="442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7" name="Group 147">
            <a:extLst>
              <a:ext uri="{FF2B5EF4-FFF2-40B4-BE49-F238E27FC236}">
                <a16:creationId xmlns:a16="http://schemas.microsoft.com/office/drawing/2014/main" id="{70789427-4C6A-4A75-B31F-2E4759F472CD}"/>
              </a:ext>
            </a:extLst>
          </p:cNvPr>
          <p:cNvGraphicFramePr>
            <a:graphicFrameLocks noGrp="1"/>
          </p:cNvGraphicFramePr>
          <p:nvPr/>
        </p:nvGraphicFramePr>
        <p:xfrm>
          <a:off x="344488" y="8931275"/>
          <a:ext cx="6615112" cy="327025"/>
        </p:xfrm>
        <a:graphic>
          <a:graphicData uri="http://schemas.openxmlformats.org/drawingml/2006/table">
            <a:tbl>
              <a:tblPr/>
              <a:tblGrid>
                <a:gridCol w="5670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445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702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806700" algn="ctr"/>
                          <a:tab pos="5611813" algn="r"/>
                        </a:tabLst>
                      </a:pPr>
                      <a:r>
                        <a:rPr kumimoji="0" lang="pt-B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quare721 BT" pitchFamily="34" charset="0"/>
                          <a:cs typeface="Times New Roman" pitchFamily="18" charset="0"/>
                        </a:rPr>
                        <a:t>MBA em Engenharia de Software Orientada a Serviços (SOA)</a:t>
                      </a: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quare721 BT" pitchFamily="34" charset="0"/>
                        <a:cs typeface="Times New Roman" pitchFamily="18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806700" algn="ctr"/>
                          <a:tab pos="5611813" algn="r"/>
                        </a:tabLst>
                      </a:pPr>
                      <a:r>
                        <a:rPr lang="pt-BR" sz="800" dirty="0" err="1">
                          <a:latin typeface="Square721 BT" pitchFamily="34" charset="0"/>
                          <a:cs typeface="Calibri" pitchFamily="34" charset="0"/>
                        </a:rPr>
                        <a:t>Profª</a:t>
                      </a:r>
                      <a:r>
                        <a:rPr lang="pt-BR" sz="800" dirty="0">
                          <a:latin typeface="Square721 BT" pitchFamily="34" charset="0"/>
                          <a:cs typeface="Calibri" pitchFamily="34" charset="0"/>
                        </a:rPr>
                        <a:t> </a:t>
                      </a:r>
                      <a:r>
                        <a:rPr lang="en-US" sz="800" dirty="0">
                          <a:latin typeface="Square721 BT" pitchFamily="34" charset="0"/>
                          <a:cs typeface="Calibri" pitchFamily="34" charset="0"/>
                        </a:rPr>
                        <a:t>. </a:t>
                      </a:r>
                      <a:r>
                        <a:rPr lang="en-US" sz="800" dirty="0" err="1">
                          <a:latin typeface="Square721 BT" pitchFamily="34" charset="0"/>
                          <a:cs typeface="Calibri" pitchFamily="34" charset="0"/>
                        </a:rPr>
                        <a:t>MSc</a:t>
                      </a:r>
                      <a:r>
                        <a:rPr lang="en-US" sz="800" dirty="0">
                          <a:latin typeface="Square721 BT" pitchFamily="34" charset="0"/>
                          <a:cs typeface="Calibri" pitchFamily="34" charset="0"/>
                        </a:rPr>
                        <a:t> </a:t>
                      </a:r>
                      <a:r>
                        <a:rPr lang="pt-BR" sz="800" dirty="0">
                          <a:latin typeface="Square721 BT" pitchFamily="34" charset="0"/>
                          <a:cs typeface="Calibri" pitchFamily="34" charset="0"/>
                        </a:rPr>
                        <a:t>Susanne Anjos Andrade</a:t>
                      </a: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quare721 BT" pitchFamily="34" charset="0"/>
                      </a:endParaRPr>
                    </a:p>
                  </a:txBody>
                  <a:tcPr marT="35541" marB="35541" anchor="ctr" horzOverflow="overflow">
                    <a:lnL cap="flat">
                      <a:noFill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806700" algn="ctr"/>
                          <a:tab pos="5611813" algn="r"/>
                        </a:tabLst>
                      </a:pPr>
                      <a:endParaRPr kumimoji="0" lang="pt-B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35541" marB="35541" anchor="ctr" horzOverflow="overflow">
                    <a:lnL>
                      <a:noFill/>
                    </a:lnL>
                    <a:lnR cap="flat"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" name="Rectangle 135">
            <a:extLst>
              <a:ext uri="{FF2B5EF4-FFF2-40B4-BE49-F238E27FC236}">
                <a16:creationId xmlns:a16="http://schemas.microsoft.com/office/drawing/2014/main" id="{2E86EE7D-ABE9-4FEF-943A-E8FC6FC19920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92550" y="8777288"/>
            <a:ext cx="3076575" cy="3984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000">
                <a:latin typeface="Square721 BT" pitchFamily="34" charset="0"/>
              </a:defRPr>
            </a:lvl1pPr>
          </a:lstStyle>
          <a:p>
            <a:pPr>
              <a:defRPr/>
            </a:pPr>
            <a:r>
              <a:rPr lang="pt-BR" altLang="pt-BR"/>
              <a:t>Página - </a:t>
            </a:r>
            <a:fld id="{61BF9E74-DAA4-4DE3-BDB4-B1097CD628B2}" type="slidenum">
              <a:rPr lang="pt-BR" altLang="pt-BR"/>
              <a:pPr>
                <a:defRPr/>
              </a:pPr>
              <a:t>‹nº›</a:t>
            </a:fld>
            <a:r>
              <a:rPr lang="pt-BR" altLang="pt-BR"/>
              <a:t> -</a:t>
            </a: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B226DE4D-D64C-41F9-9DCC-8954A26D745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170238" cy="481013"/>
          </a:xfrm>
          <a:prstGeom prst="rect">
            <a:avLst/>
          </a:prstGeom>
        </p:spPr>
        <p:txBody>
          <a:bodyPr vert="horz" lIns="112334" tIns="56167" rIns="112334" bIns="56167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5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774D9C91-4FDB-4F9B-846F-98C2EF0CBD3C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4143375" y="0"/>
            <a:ext cx="3170238" cy="481013"/>
          </a:xfrm>
          <a:prstGeom prst="rect">
            <a:avLst/>
          </a:prstGeom>
        </p:spPr>
        <p:txBody>
          <a:bodyPr vert="horz" lIns="112334" tIns="56167" rIns="112334" bIns="56167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500">
                <a:latin typeface="+mn-lt"/>
                <a:cs typeface="+mn-cs"/>
              </a:defRPr>
            </a:lvl1pPr>
          </a:lstStyle>
          <a:p>
            <a:pPr>
              <a:defRPr/>
            </a:pPr>
            <a:fld id="{98BF8467-D8F0-4E80-9D68-0D77DCFBCAC4}" type="datetimeFigureOut">
              <a:rPr lang="pt-BR"/>
              <a:pPr>
                <a:defRPr/>
              </a:pPr>
              <a:t>09/08/2022</a:t>
            </a:fld>
            <a:endParaRPr lang="pt-BR"/>
          </a:p>
        </p:txBody>
      </p:sp>
      <p:sp>
        <p:nvSpPr>
          <p:cNvPr id="4" name="Espaço Reservado para Imagem de Slide 3">
            <a:extLst>
              <a:ext uri="{FF2B5EF4-FFF2-40B4-BE49-F238E27FC236}">
                <a16:creationId xmlns:a16="http://schemas.microsoft.com/office/drawing/2014/main" id="{5ECC52DC-F9A3-4774-9A6C-4BCBFFCC594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19138"/>
            <a:ext cx="4800600" cy="3600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112334" tIns="56167" rIns="112334" bIns="56167" rtlCol="0" anchor="ctr"/>
          <a:lstStyle/>
          <a:p>
            <a:pPr lvl="0"/>
            <a:endParaRPr lang="pt-BR" noProof="0"/>
          </a:p>
        </p:txBody>
      </p:sp>
      <p:sp>
        <p:nvSpPr>
          <p:cNvPr id="5" name="Espaço Reservado para Anotações 4">
            <a:extLst>
              <a:ext uri="{FF2B5EF4-FFF2-40B4-BE49-F238E27FC236}">
                <a16:creationId xmlns:a16="http://schemas.microsoft.com/office/drawing/2014/main" id="{426FA4C5-FAD6-4245-AAAE-77FDD33E007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31838" y="4560888"/>
            <a:ext cx="5851525" cy="4321175"/>
          </a:xfrm>
          <a:prstGeom prst="rect">
            <a:avLst/>
          </a:prstGeom>
        </p:spPr>
        <p:txBody>
          <a:bodyPr vert="horz" lIns="112334" tIns="56167" rIns="112334" bIns="56167" rtlCol="0">
            <a:normAutofit/>
          </a:bodyPr>
          <a:lstStyle/>
          <a:p>
            <a:pPr lvl="0"/>
            <a:r>
              <a:rPr lang="pt-BR" noProof="0"/>
              <a:t>Clique para editar os estilos do texto mestre</a:t>
            </a:r>
          </a:p>
          <a:p>
            <a:pPr lvl="1"/>
            <a:r>
              <a:rPr lang="pt-BR" noProof="0"/>
              <a:t>Segundo nível</a:t>
            </a:r>
          </a:p>
          <a:p>
            <a:pPr lvl="2"/>
            <a:r>
              <a:rPr lang="pt-BR" noProof="0"/>
              <a:t>Terceiro nível</a:t>
            </a:r>
          </a:p>
          <a:p>
            <a:pPr lvl="3"/>
            <a:r>
              <a:rPr lang="pt-BR" noProof="0"/>
              <a:t>Quarto nível</a:t>
            </a:r>
          </a:p>
          <a:p>
            <a:pPr lvl="4"/>
            <a:r>
              <a:rPr lang="pt-BR" noProof="0"/>
              <a:t>Quinto nível</a:t>
            </a:r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8D23617-D517-4A52-91C7-BCFDC3F8FABD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9120188"/>
            <a:ext cx="3170238" cy="479425"/>
          </a:xfrm>
          <a:prstGeom prst="rect">
            <a:avLst/>
          </a:prstGeom>
        </p:spPr>
        <p:txBody>
          <a:bodyPr vert="horz" lIns="112334" tIns="56167" rIns="112334" bIns="56167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5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C299F0D-A39A-48E1-BA77-E94D22ED93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4143375" y="9120188"/>
            <a:ext cx="3170238" cy="479425"/>
          </a:xfrm>
          <a:prstGeom prst="rect">
            <a:avLst/>
          </a:prstGeom>
        </p:spPr>
        <p:txBody>
          <a:bodyPr vert="horz" wrap="square" lIns="112334" tIns="56167" rIns="112334" bIns="56167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50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7741D7E1-E712-4F31-8EE8-FB7881D96352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F037F24C-7147-490B-B2E0-A119D90779E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268413" y="727075"/>
            <a:ext cx="4778375" cy="3584575"/>
          </a:xfrm>
          <a:noFill/>
          <a:ln cap="flat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9459" name="Rectangle 3">
            <a:extLst>
              <a:ext uri="{FF2B5EF4-FFF2-40B4-BE49-F238E27FC236}">
                <a16:creationId xmlns:a16="http://schemas.microsoft.com/office/drawing/2014/main" id="{8E71195C-13CC-43FC-8561-60E69F79BE1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004888" y="4573588"/>
            <a:ext cx="5297487" cy="38004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pt-BR" altLang="pt-BR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467544" y="116632"/>
            <a:ext cx="7128792" cy="79208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pt-BR" dirty="0"/>
              <a:t>Clique para editar o estilo do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465054" y="1340768"/>
            <a:ext cx="8283409" cy="5256584"/>
          </a:xfrm>
        </p:spPr>
        <p:txBody>
          <a:bodyPr/>
          <a:lstStyle>
            <a:lvl1pPr marL="0" indent="0" algn="l">
              <a:buNone/>
              <a:defRPr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 dirty="0"/>
              <a:t>Clique para editar o estilo do subtítulo mestre</a:t>
            </a:r>
          </a:p>
        </p:txBody>
      </p:sp>
    </p:spTree>
    <p:extLst>
      <p:ext uri="{BB962C8B-B14F-4D97-AF65-F5344CB8AC3E}">
        <p14:creationId xmlns:p14="http://schemas.microsoft.com/office/powerpoint/2010/main" val="11892497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67544" y="188640"/>
            <a:ext cx="7272808" cy="5048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pt-BR" dirty="0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pt-BR" dirty="0"/>
              <a:t>Clique para editar os estilos do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41588754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>
                <a:solidFill>
                  <a:schemeClr val="bg1"/>
                </a:solidFill>
              </a:defRPr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</p:spTree>
    <p:extLst>
      <p:ext uri="{BB962C8B-B14F-4D97-AF65-F5344CB8AC3E}">
        <p14:creationId xmlns:p14="http://schemas.microsoft.com/office/powerpoint/2010/main" val="23101005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68015" y="260350"/>
            <a:ext cx="7272337" cy="5048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pt-BR" dirty="0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>
              <a:defRPr sz="2400">
                <a:solidFill>
                  <a:schemeClr val="bg1"/>
                </a:solidFill>
              </a:defRPr>
            </a:lvl2pPr>
            <a:lvl3pPr>
              <a:defRPr sz="20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>
              <a:defRPr sz="2400">
                <a:solidFill>
                  <a:schemeClr val="bg1"/>
                </a:solidFill>
              </a:defRPr>
            </a:lvl2pPr>
            <a:lvl3pPr>
              <a:defRPr sz="20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41291385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68015" y="260350"/>
            <a:ext cx="7272337" cy="5048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pt-BR" dirty="0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>
                <a:solidFill>
                  <a:schemeClr val="bg1"/>
                </a:solidFill>
              </a:defRPr>
            </a:lvl1pPr>
            <a:lvl2pPr>
              <a:defRPr sz="20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>
                <a:solidFill>
                  <a:schemeClr val="bg1"/>
                </a:solidFill>
              </a:defRPr>
            </a:lvl1pPr>
            <a:lvl2pPr>
              <a:defRPr sz="20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19628090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67544" y="188640"/>
            <a:ext cx="7272337" cy="5048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pt-BR" dirty="0"/>
              <a:t>Clique para editar o estilo do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19812697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900510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764704"/>
            <a:ext cx="3008313" cy="1162050"/>
          </a:xfrm>
        </p:spPr>
        <p:txBody>
          <a:bodyPr anchor="b"/>
          <a:lstStyle>
            <a:lvl1pPr algn="l">
              <a:defRPr sz="2000" b="1">
                <a:solidFill>
                  <a:schemeClr val="bg1"/>
                </a:solidFill>
              </a:defRPr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635896" y="764704"/>
            <a:ext cx="5111750" cy="5853113"/>
          </a:xfrm>
        </p:spPr>
        <p:txBody>
          <a:bodyPr/>
          <a:lstStyle>
            <a:lvl1pPr>
              <a:defRPr sz="3200">
                <a:solidFill>
                  <a:schemeClr val="bg1"/>
                </a:solidFill>
              </a:defRPr>
            </a:lvl1pPr>
            <a:lvl2pPr>
              <a:defRPr sz="2800">
                <a:solidFill>
                  <a:schemeClr val="bg1"/>
                </a:solidFill>
              </a:defRPr>
            </a:lvl2pPr>
            <a:lvl3pPr>
              <a:defRPr sz="2400">
                <a:solidFill>
                  <a:schemeClr val="bg1"/>
                </a:solidFill>
              </a:defRPr>
            </a:lvl3pPr>
            <a:lvl4pPr>
              <a:defRPr sz="2000">
                <a:solidFill>
                  <a:schemeClr val="bg1"/>
                </a:solidFill>
              </a:defRPr>
            </a:lvl4pPr>
            <a:lvl5pPr>
              <a:defRPr sz="2000">
                <a:solidFill>
                  <a:schemeClr val="bg1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199" y="1926754"/>
            <a:ext cx="3008313" cy="4691063"/>
          </a:xfr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</p:spTree>
    <p:extLst>
      <p:ext uri="{BB962C8B-B14F-4D97-AF65-F5344CB8AC3E}">
        <p14:creationId xmlns:p14="http://schemas.microsoft.com/office/powerpoint/2010/main" val="39718934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>
                <a:solidFill>
                  <a:schemeClr val="bg1"/>
                </a:solidFill>
              </a:defRPr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pt-BR" noProof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</p:spTree>
    <p:extLst>
      <p:ext uri="{BB962C8B-B14F-4D97-AF65-F5344CB8AC3E}">
        <p14:creationId xmlns:p14="http://schemas.microsoft.com/office/powerpoint/2010/main" val="28514802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/>
          <p:cNvSpPr>
            <a:spLocks noGrp="1"/>
          </p:cNvSpPr>
          <p:nvPr>
            <p:ph/>
          </p:nvPr>
        </p:nvSpPr>
        <p:spPr>
          <a:xfrm>
            <a:off x="467544" y="836712"/>
            <a:ext cx="8229600" cy="56355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7837620"/>
      </p:ext>
    </p:extLst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984139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1558066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Texto 6"/>
          <p:cNvSpPr>
            <a:spLocks noGrp="1"/>
          </p:cNvSpPr>
          <p:nvPr>
            <p:ph type="body" sz="quarter" idx="10"/>
          </p:nvPr>
        </p:nvSpPr>
        <p:spPr>
          <a:xfrm>
            <a:off x="0" y="3212976"/>
            <a:ext cx="9144000" cy="792733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2800" b="1" baseline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596647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Texto 6"/>
          <p:cNvSpPr>
            <a:spLocks noGrp="1"/>
          </p:cNvSpPr>
          <p:nvPr>
            <p:ph type="body" sz="quarter" idx="10"/>
          </p:nvPr>
        </p:nvSpPr>
        <p:spPr>
          <a:xfrm>
            <a:off x="0" y="3212976"/>
            <a:ext cx="9144000" cy="792733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2800" b="1" baseline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64621541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Texto 6"/>
          <p:cNvSpPr>
            <a:spLocks noGrp="1"/>
          </p:cNvSpPr>
          <p:nvPr>
            <p:ph type="body" sz="quarter" idx="10"/>
          </p:nvPr>
        </p:nvSpPr>
        <p:spPr>
          <a:xfrm>
            <a:off x="0" y="3212976"/>
            <a:ext cx="9144000" cy="792733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2800" b="1" baseline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1092191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4530942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4024053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Texto 6"/>
          <p:cNvSpPr>
            <a:spLocks noGrp="1"/>
          </p:cNvSpPr>
          <p:nvPr>
            <p:ph type="body" sz="quarter" idx="10"/>
          </p:nvPr>
        </p:nvSpPr>
        <p:spPr>
          <a:xfrm>
            <a:off x="3995936" y="2708920"/>
            <a:ext cx="3529012" cy="792733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pt-BR"/>
              <a:t>Clique para editar o texto mestre</a:t>
            </a:r>
          </a:p>
        </p:txBody>
      </p:sp>
    </p:spTree>
    <p:extLst>
      <p:ext uri="{BB962C8B-B14F-4D97-AF65-F5344CB8AC3E}">
        <p14:creationId xmlns:p14="http://schemas.microsoft.com/office/powerpoint/2010/main" val="58951543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539552" y="260648"/>
            <a:ext cx="7056784" cy="504056"/>
          </a:xfrm>
        </p:spPr>
        <p:txBody>
          <a:bodyPr/>
          <a:lstStyle/>
          <a:p>
            <a:r>
              <a:rPr lang="pt-BR" dirty="0"/>
              <a:t>Clique para editar o estilo do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395536" y="1268760"/>
            <a:ext cx="7916416" cy="5184576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 dirty="0"/>
              <a:t>Clique para editar o estilo do subtítulo mestre</a:t>
            </a:r>
          </a:p>
        </p:txBody>
      </p:sp>
    </p:spTree>
    <p:extLst>
      <p:ext uri="{BB962C8B-B14F-4D97-AF65-F5344CB8AC3E}">
        <p14:creationId xmlns:p14="http://schemas.microsoft.com/office/powerpoint/2010/main" val="242611447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39552" y="260648"/>
            <a:ext cx="7272808" cy="504800"/>
          </a:xfrm>
        </p:spPr>
        <p:txBody>
          <a:bodyPr/>
          <a:lstStyle/>
          <a:p>
            <a:r>
              <a:rPr lang="pt-BR" dirty="0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314996579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</p:spTree>
    <p:extLst>
      <p:ext uri="{BB962C8B-B14F-4D97-AF65-F5344CB8AC3E}">
        <p14:creationId xmlns:p14="http://schemas.microsoft.com/office/powerpoint/2010/main" val="290692635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39552" y="260648"/>
            <a:ext cx="7272337" cy="504825"/>
          </a:xfrm>
        </p:spPr>
        <p:txBody>
          <a:bodyPr/>
          <a:lstStyle/>
          <a:p>
            <a:r>
              <a:rPr lang="pt-BR" dirty="0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86828801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39553" y="260648"/>
            <a:ext cx="7056784" cy="504825"/>
          </a:xfrm>
        </p:spPr>
        <p:txBody>
          <a:bodyPr/>
          <a:lstStyle>
            <a:lvl1pPr>
              <a:defRPr/>
            </a:lvl1pPr>
          </a:lstStyle>
          <a:p>
            <a:r>
              <a:rPr lang="pt-BR" dirty="0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357589164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39553" y="260648"/>
            <a:ext cx="6912768" cy="504825"/>
          </a:xfrm>
        </p:spPr>
        <p:txBody>
          <a:bodyPr/>
          <a:lstStyle/>
          <a:p>
            <a:r>
              <a:rPr lang="pt-BR" dirty="0"/>
              <a:t>Clique para editar o estilo do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400012372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3493075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816247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816247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00" y="1978297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</p:spTree>
    <p:extLst>
      <p:ext uri="{BB962C8B-B14F-4D97-AF65-F5344CB8AC3E}">
        <p14:creationId xmlns:p14="http://schemas.microsoft.com/office/powerpoint/2010/main" val="272233462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pt-BR" noProof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</p:spTree>
    <p:extLst>
      <p:ext uri="{BB962C8B-B14F-4D97-AF65-F5344CB8AC3E}">
        <p14:creationId xmlns:p14="http://schemas.microsoft.com/office/powerpoint/2010/main" val="238952642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738083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jpeg"/><Relationship Id="rId3" Type="http://schemas.openxmlformats.org/officeDocument/2006/relationships/slideLayout" Target="../slideLayouts/slideLayout14.xml"/><Relationship Id="rId7" Type="http://schemas.openxmlformats.org/officeDocument/2006/relationships/image" Target="../media/image2.jpeg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9" Type="http://schemas.openxmlformats.org/officeDocument/2006/relationships/image" Target="../media/image3.png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7" Type="http://schemas.openxmlformats.org/officeDocument/2006/relationships/image" Target="../media/image6.png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5.png"/><Relationship Id="rId5" Type="http://schemas.microsoft.com/office/2007/relationships/hdphoto" Target="../media/hdphoto1.wdp"/><Relationship Id="rId4" Type="http://schemas.openxmlformats.org/officeDocument/2006/relationships/image" Target="../media/image4.pn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6.xml"/><Relationship Id="rId13" Type="http://schemas.openxmlformats.org/officeDocument/2006/relationships/image" Target="../media/image8.jpeg"/><Relationship Id="rId3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5.xml"/><Relationship Id="rId12" Type="http://schemas.openxmlformats.org/officeDocument/2006/relationships/image" Target="../media/image7.jpeg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4.xml"/><Relationship Id="rId11" Type="http://schemas.openxmlformats.org/officeDocument/2006/relationships/theme" Target="../theme/theme4.xml"/><Relationship Id="rId5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8.xml"/><Relationship Id="rId4" Type="http://schemas.openxmlformats.org/officeDocument/2006/relationships/slideLayout" Target="../slideLayouts/slideLayout22.xml"/><Relationship Id="rId9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Espaço Reservado para Título 1">
            <a:extLst>
              <a:ext uri="{FF2B5EF4-FFF2-40B4-BE49-F238E27FC236}">
                <a16:creationId xmlns:a16="http://schemas.microsoft.com/office/drawing/2014/main" id="{C738FB59-4157-458C-8F68-8BBFE91DF4EB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395288" y="260350"/>
            <a:ext cx="7272337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Clique para editar o estilo do título mestre</a:t>
            </a:r>
          </a:p>
        </p:txBody>
      </p:sp>
      <p:sp>
        <p:nvSpPr>
          <p:cNvPr id="2051" name="Espaço Reservado para Texto 2">
            <a:extLst>
              <a:ext uri="{FF2B5EF4-FFF2-40B4-BE49-F238E27FC236}">
                <a16:creationId xmlns:a16="http://schemas.microsoft.com/office/drawing/2014/main" id="{C6919357-FA36-46F9-B6A3-800E32DC740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395288" y="1165225"/>
            <a:ext cx="8497887" cy="5359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Clique para editar os estilos do texto mestre</a:t>
            </a:r>
          </a:p>
          <a:p>
            <a:pPr lvl="1"/>
            <a:r>
              <a:rPr lang="pt-BR" altLang="pt-BR"/>
              <a:t>Segundo nível</a:t>
            </a:r>
          </a:p>
          <a:p>
            <a:pPr lvl="2"/>
            <a:r>
              <a:rPr lang="pt-BR" altLang="pt-BR"/>
              <a:t>Terceiro nível</a:t>
            </a:r>
          </a:p>
          <a:p>
            <a:pPr lvl="3"/>
            <a:r>
              <a:rPr lang="pt-BR" altLang="pt-BR"/>
              <a:t>Quarto nível</a:t>
            </a:r>
          </a:p>
          <a:p>
            <a:pPr lvl="4"/>
            <a:r>
              <a:rPr lang="pt-BR" altLang="pt-BR"/>
              <a:t>Quinto nível</a:t>
            </a:r>
          </a:p>
        </p:txBody>
      </p:sp>
      <p:sp>
        <p:nvSpPr>
          <p:cNvPr id="2052" name="CaixaDeTexto 5">
            <a:extLst>
              <a:ext uri="{FF2B5EF4-FFF2-40B4-BE49-F238E27FC236}">
                <a16:creationId xmlns:a16="http://schemas.microsoft.com/office/drawing/2014/main" id="{58E61261-F8DE-4F81-B5AB-FAE871C42C98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3779838" y="3252788"/>
            <a:ext cx="1763712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pt-BR" altLang="pt-BR" sz="2000" b="1"/>
              <a:t>TEMPLATE 2</a:t>
            </a:r>
          </a:p>
        </p:txBody>
      </p:sp>
      <p:pic>
        <p:nvPicPr>
          <p:cNvPr id="2053" name="Imagem 2">
            <a:extLst>
              <a:ext uri="{FF2B5EF4-FFF2-40B4-BE49-F238E27FC236}">
                <a16:creationId xmlns:a16="http://schemas.microsoft.com/office/drawing/2014/main" id="{B2FE3769-3D70-43CB-8CC2-98F328BBC77D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5057" r:id="rId1"/>
    <p:sldLayoutId id="2147485058" r:id="rId2"/>
    <p:sldLayoutId id="2147485059" r:id="rId3"/>
    <p:sldLayoutId id="2147485060" r:id="rId4"/>
    <p:sldLayoutId id="2147485061" r:id="rId5"/>
    <p:sldLayoutId id="2147485062" r:id="rId6"/>
    <p:sldLayoutId id="2147485063" r:id="rId7"/>
    <p:sldLayoutId id="2147485064" r:id="rId8"/>
    <p:sldLayoutId id="2147485065" r:id="rId9"/>
    <p:sldLayoutId id="2147485070" r:id="rId10"/>
    <p:sldLayoutId id="2147485066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2800" b="1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Arial" charset="0"/>
          <a:cs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Espaço Reservado para Título 1">
            <a:extLst>
              <a:ext uri="{FF2B5EF4-FFF2-40B4-BE49-F238E27FC236}">
                <a16:creationId xmlns:a16="http://schemas.microsoft.com/office/drawing/2014/main" id="{9F99352D-7981-4853-8146-425016D90C4C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Clique para editar o estilo do título mestre</a:t>
            </a:r>
          </a:p>
        </p:txBody>
      </p:sp>
      <p:sp>
        <p:nvSpPr>
          <p:cNvPr id="3075" name="Espaço Reservado para Texto 2">
            <a:extLst>
              <a:ext uri="{FF2B5EF4-FFF2-40B4-BE49-F238E27FC236}">
                <a16:creationId xmlns:a16="http://schemas.microsoft.com/office/drawing/2014/main" id="{A6377868-E329-4BDD-9AD5-890AA2A4E76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Clique para editar os estilos do texto mestre</a:t>
            </a:r>
          </a:p>
          <a:p>
            <a:pPr lvl="1"/>
            <a:r>
              <a:rPr lang="pt-BR" altLang="pt-BR"/>
              <a:t>Segundo nível</a:t>
            </a:r>
          </a:p>
          <a:p>
            <a:pPr lvl="2"/>
            <a:r>
              <a:rPr lang="pt-BR" altLang="pt-BR"/>
              <a:t>Terceiro nível</a:t>
            </a:r>
          </a:p>
          <a:p>
            <a:pPr lvl="3"/>
            <a:r>
              <a:rPr lang="pt-BR" altLang="pt-BR"/>
              <a:t>Quarto nível</a:t>
            </a:r>
          </a:p>
          <a:p>
            <a:pPr lvl="4"/>
            <a:r>
              <a:rPr lang="pt-BR" alt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C8C4475-8D3F-49D1-9BCF-B3A2D10D723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56B76EEF-8037-4CDD-AF28-295BED34BD21}" type="datetimeFigureOut">
              <a:rPr lang="pt-BR"/>
              <a:pPr>
                <a:defRPr/>
              </a:pPr>
              <a:t>09/08/2022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E23A43D-CC0E-447E-B830-D404D21A71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AD9C497-8C9E-4315-81E4-AF8CDC2DCD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F022FB65-073B-4846-92D5-81E90D2C1951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  <p:pic>
        <p:nvPicPr>
          <p:cNvPr id="3079" name="Picture 2" descr="C:\Users\cl0817\Desktop\CoringasLogos.jpg">
            <a:extLst>
              <a:ext uri="{FF2B5EF4-FFF2-40B4-BE49-F238E27FC236}">
                <a16:creationId xmlns:a16="http://schemas.microsoft.com/office/drawing/2014/main" id="{71BC5B46-04CB-4344-A51E-75769CB3A93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80" name="Imagem 7">
            <a:extLst>
              <a:ext uri="{FF2B5EF4-FFF2-40B4-BE49-F238E27FC236}">
                <a16:creationId xmlns:a16="http://schemas.microsoft.com/office/drawing/2014/main" id="{3F4B71C4-FB06-4128-83C4-B545D45DA680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61463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81" name="Imagem 8">
            <a:extLst>
              <a:ext uri="{FF2B5EF4-FFF2-40B4-BE49-F238E27FC236}">
                <a16:creationId xmlns:a16="http://schemas.microsoft.com/office/drawing/2014/main" id="{5B38B3D8-C6E2-488B-BB15-BC5620E0E70C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692275"/>
            <a:ext cx="9161463" cy="3900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5071" r:id="rId1"/>
    <p:sldLayoutId id="2147485072" r:id="rId2"/>
    <p:sldLayoutId id="2147485073" r:id="rId3"/>
    <p:sldLayoutId id="2147485074" r:id="rId4"/>
    <p:sldLayoutId id="2147485075" r:id="rId5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Imagem 1">
            <a:extLst>
              <a:ext uri="{FF2B5EF4-FFF2-40B4-BE49-F238E27FC236}">
                <a16:creationId xmlns:a16="http://schemas.microsoft.com/office/drawing/2014/main" id="{2546B3B6-845C-449C-860F-9FEA49F94A50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2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8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0F170740-16EF-4FCF-8500-0970327B14F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/>
          <a:srcRect l="1100" t="15587" r="77600" b="77055"/>
          <a:stretch/>
        </p:blipFill>
        <p:spPr>
          <a:xfrm>
            <a:off x="98684" y="2789749"/>
            <a:ext cx="3565011" cy="692726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E1EBDE81-0E34-4AB5-9A21-80BD14AF475C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7380312" y="116632"/>
            <a:ext cx="1572394" cy="79341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5067" r:id="rId1"/>
    <p:sldLayoutId id="2147485069" r:id="rId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Espaço Reservado para Título 1">
            <a:extLst>
              <a:ext uri="{FF2B5EF4-FFF2-40B4-BE49-F238E27FC236}">
                <a16:creationId xmlns:a16="http://schemas.microsoft.com/office/drawing/2014/main" id="{21807878-B236-41FA-B2C2-33D4D8DDD154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395288" y="260350"/>
            <a:ext cx="7272337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Clique para editar o estilo do título mestre</a:t>
            </a:r>
          </a:p>
        </p:txBody>
      </p:sp>
      <p:sp>
        <p:nvSpPr>
          <p:cNvPr id="1027" name="Espaço Reservado para Texto 2">
            <a:extLst>
              <a:ext uri="{FF2B5EF4-FFF2-40B4-BE49-F238E27FC236}">
                <a16:creationId xmlns:a16="http://schemas.microsoft.com/office/drawing/2014/main" id="{02030B68-9EF9-491B-897D-28BCA02CE1C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395288" y="1165225"/>
            <a:ext cx="8497887" cy="5359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Clique para editar os estilos do texto mestre</a:t>
            </a:r>
          </a:p>
          <a:p>
            <a:pPr lvl="1"/>
            <a:r>
              <a:rPr lang="pt-BR" altLang="pt-BR"/>
              <a:t>Segundo nível</a:t>
            </a:r>
          </a:p>
          <a:p>
            <a:pPr lvl="2"/>
            <a:r>
              <a:rPr lang="pt-BR" altLang="pt-BR"/>
              <a:t>Terceiro nível</a:t>
            </a:r>
          </a:p>
          <a:p>
            <a:pPr lvl="3"/>
            <a:r>
              <a:rPr lang="pt-BR" altLang="pt-BR"/>
              <a:t>Quarto nível</a:t>
            </a:r>
          </a:p>
          <a:p>
            <a:pPr lvl="4"/>
            <a:r>
              <a:rPr lang="pt-BR" altLang="pt-BR"/>
              <a:t>Quinto nível</a:t>
            </a:r>
          </a:p>
        </p:txBody>
      </p:sp>
      <p:pic>
        <p:nvPicPr>
          <p:cNvPr id="1028" name="Picture 2" descr="C:\Users\cl0817\Desktop\MioloBranco.jpg">
            <a:extLst>
              <a:ext uri="{FF2B5EF4-FFF2-40B4-BE49-F238E27FC236}">
                <a16:creationId xmlns:a16="http://schemas.microsoft.com/office/drawing/2014/main" id="{C96B475A-E4E9-4E39-B6EF-38D0C27A47A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9" name="Imagem 1">
            <a:extLst>
              <a:ext uri="{FF2B5EF4-FFF2-40B4-BE49-F238E27FC236}">
                <a16:creationId xmlns:a16="http://schemas.microsoft.com/office/drawing/2014/main" id="{9CCB3F0B-F6BB-4F73-BCAD-3FCC8FA1255C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442160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077" r:id="rId1"/>
    <p:sldLayoutId id="2147485078" r:id="rId2"/>
    <p:sldLayoutId id="2147485079" r:id="rId3"/>
    <p:sldLayoutId id="2147485080" r:id="rId4"/>
    <p:sldLayoutId id="2147485081" r:id="rId5"/>
    <p:sldLayoutId id="2147485082" r:id="rId6"/>
    <p:sldLayoutId id="2147485083" r:id="rId7"/>
    <p:sldLayoutId id="2147485084" r:id="rId8"/>
    <p:sldLayoutId id="2147485085" r:id="rId9"/>
    <p:sldLayoutId id="2147485086" r:id="rId1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2800" b="1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Arial" charset="0"/>
          <a:cs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Espaço Reservado para Texto 1">
            <a:extLst>
              <a:ext uri="{FF2B5EF4-FFF2-40B4-BE49-F238E27FC236}">
                <a16:creationId xmlns:a16="http://schemas.microsoft.com/office/drawing/2014/main" id="{D1267B44-EE95-4C1E-A214-444624DB792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 bwMode="auto">
          <a:xfrm>
            <a:off x="4067175" y="2781300"/>
            <a:ext cx="3529013" cy="7921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pt-BR" altLang="pt-BR" dirty="0"/>
              <a:t>COMPUTATION THINKING FOR ENGINEERING</a:t>
            </a:r>
            <a:endParaRPr lang="en-US" altLang="pt-BR"/>
          </a:p>
          <a:p>
            <a:endParaRPr lang="pt-BR" altLang="pt-BR" dirty="0"/>
          </a:p>
        </p:txBody>
      </p:sp>
      <p:sp>
        <p:nvSpPr>
          <p:cNvPr id="14339" name="Espaço Reservado para Texto 4">
            <a:extLst>
              <a:ext uri="{FF2B5EF4-FFF2-40B4-BE49-F238E27FC236}">
                <a16:creationId xmlns:a16="http://schemas.microsoft.com/office/drawing/2014/main" id="{9F62D58F-4C56-47EE-A965-7EAD57F53EA9}"/>
              </a:ext>
            </a:extLst>
          </p:cNvPr>
          <p:cNvSpPr txBox="1">
            <a:spLocks/>
          </p:cNvSpPr>
          <p:nvPr/>
        </p:nvSpPr>
        <p:spPr bwMode="auto">
          <a:xfrm>
            <a:off x="1619250" y="5805488"/>
            <a:ext cx="4573588" cy="1150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lvl="4" algn="r" eaLnBrk="1" hangingPunct="1">
              <a:spcBef>
                <a:spcPct val="20000"/>
              </a:spcBef>
              <a:buFont typeface="Arial" panose="020B0604020202020204" pitchFamily="34" charset="0"/>
              <a:buNone/>
            </a:pPr>
            <a:r>
              <a:rPr lang="nb-NO" altLang="pt-BR" sz="1200" b="1" dirty="0">
                <a:solidFill>
                  <a:srgbClr val="D9D9D9"/>
                </a:solidFill>
              </a:rPr>
              <a:t>Michele Bazana de Souza</a:t>
            </a:r>
            <a:r>
              <a:rPr lang="nb-NO" altLang="pt-BR" sz="1200" dirty="0">
                <a:solidFill>
                  <a:srgbClr val="D9D9D9"/>
                </a:solidFill>
              </a:rPr>
              <a:t> michele.souza@fiap.com.br</a:t>
            </a:r>
          </a:p>
          <a:p>
            <a:pPr lvl="4" algn="r" eaLnBrk="1" hangingPunct="1">
              <a:spcBef>
                <a:spcPct val="20000"/>
              </a:spcBef>
              <a:buFont typeface="Arial" panose="020B0604020202020204" pitchFamily="34" charset="0"/>
              <a:buNone/>
            </a:pPr>
            <a:endParaRPr lang="nb-NO" altLang="pt-BR" sz="1200" dirty="0">
              <a:solidFill>
                <a:srgbClr val="D9D9D9"/>
              </a:solidFill>
            </a:endParaRPr>
          </a:p>
          <a:p>
            <a:pPr lvl="4" algn="r" eaLnBrk="1" hangingPunct="1">
              <a:spcBef>
                <a:spcPct val="20000"/>
              </a:spcBef>
              <a:buFont typeface="Arial" panose="020B0604020202020204" pitchFamily="34" charset="0"/>
              <a:buNone/>
            </a:pPr>
            <a:r>
              <a:rPr lang="nb-NO" altLang="pt-BR" sz="1200" dirty="0">
                <a:solidFill>
                  <a:srgbClr val="D9D9D9"/>
                </a:solidFill>
              </a:rPr>
              <a:t>2022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27CCC4-76D7-74EE-4885-CAAC201503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Exercícios 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5D20FA0-C46F-4C06-D191-812E009699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t-BR" sz="2400" dirty="0"/>
              <a:t>1. Considere a </a:t>
            </a:r>
            <a:r>
              <a:rPr lang="pt-BR" sz="2400" dirty="0" err="1"/>
              <a:t>string</a:t>
            </a:r>
            <a:r>
              <a:rPr lang="pt-BR" sz="2400" dirty="0"/>
              <a:t> A = “2022 é o ano da Copa do Mundo”. Que fatia corresponde a “Copa do Mundo”?</a:t>
            </a:r>
          </a:p>
          <a:p>
            <a:pPr marL="0" indent="0">
              <a:buNone/>
            </a:pPr>
            <a:endParaRPr lang="pt-BR" sz="2000" dirty="0">
              <a:solidFill>
                <a:srgbClr val="0070C0"/>
              </a:solidFill>
            </a:endParaRPr>
          </a:p>
          <a:p>
            <a:pPr marL="0" indent="0">
              <a:buNone/>
            </a:pPr>
            <a:r>
              <a:rPr lang="pt-BR" sz="2000" dirty="0">
                <a:solidFill>
                  <a:srgbClr val="0070C0"/>
                </a:solidFill>
              </a:rPr>
              <a:t>A = "2022 é o ano da Copa do Mundo"</a:t>
            </a:r>
            <a:br>
              <a:rPr lang="pt-BR" sz="2000" dirty="0">
                <a:solidFill>
                  <a:srgbClr val="0070C0"/>
                </a:solidFill>
              </a:rPr>
            </a:br>
            <a:r>
              <a:rPr lang="pt-BR" sz="2000" dirty="0">
                <a:solidFill>
                  <a:srgbClr val="0070C0"/>
                </a:solidFill>
              </a:rPr>
              <a:t>print(A[16:29])</a:t>
            </a:r>
          </a:p>
          <a:p>
            <a:pPr marL="0" indent="0">
              <a:buNone/>
            </a:pPr>
            <a:endParaRPr lang="pt-BR" sz="2400" dirty="0"/>
          </a:p>
          <a:p>
            <a:pPr marL="0" indent="0">
              <a:buNone/>
            </a:pPr>
            <a:r>
              <a:rPr lang="pt-BR" sz="2400" dirty="0"/>
              <a:t>2. Escreva um programa que solicite uma frase ao usuário e escreva a frase toda em maiúscula e sem espaços em branco.</a:t>
            </a:r>
          </a:p>
          <a:p>
            <a:pPr marL="0" indent="0">
              <a:buNone/>
            </a:pPr>
            <a:endParaRPr lang="pt-BR" sz="2000" dirty="0"/>
          </a:p>
          <a:p>
            <a:pPr marL="0" indent="0">
              <a:buNone/>
            </a:pPr>
            <a:r>
              <a:rPr lang="pt-BR" sz="2000" dirty="0">
                <a:solidFill>
                  <a:srgbClr val="0070C0"/>
                </a:solidFill>
              </a:rPr>
              <a:t>frase = input("Digite a frase:")</a:t>
            </a:r>
            <a:br>
              <a:rPr lang="pt-BR" sz="2000" dirty="0">
                <a:solidFill>
                  <a:srgbClr val="0070C0"/>
                </a:solidFill>
              </a:rPr>
            </a:br>
            <a:r>
              <a:rPr lang="pt-BR" sz="2000" dirty="0">
                <a:solidFill>
                  <a:srgbClr val="0070C0"/>
                </a:solidFill>
              </a:rPr>
              <a:t>print(</a:t>
            </a:r>
            <a:r>
              <a:rPr lang="pt-BR" sz="2000" dirty="0" err="1">
                <a:solidFill>
                  <a:srgbClr val="0070C0"/>
                </a:solidFill>
              </a:rPr>
              <a:t>frase.upper</a:t>
            </a:r>
            <a:r>
              <a:rPr lang="pt-BR" sz="2000" dirty="0">
                <a:solidFill>
                  <a:srgbClr val="0070C0"/>
                </a:solidFill>
              </a:rPr>
              <a:t>().strip().</a:t>
            </a:r>
            <a:r>
              <a:rPr lang="pt-BR" sz="2000" dirty="0" err="1">
                <a:solidFill>
                  <a:srgbClr val="0070C0"/>
                </a:solidFill>
              </a:rPr>
              <a:t>replace</a:t>
            </a:r>
            <a:r>
              <a:rPr lang="pt-BR" sz="2000" dirty="0">
                <a:solidFill>
                  <a:srgbClr val="0070C0"/>
                </a:solidFill>
              </a:rPr>
              <a:t> (" ",""))</a:t>
            </a:r>
          </a:p>
        </p:txBody>
      </p:sp>
    </p:spTree>
    <p:extLst>
      <p:ext uri="{BB962C8B-B14F-4D97-AF65-F5344CB8AC3E}">
        <p14:creationId xmlns:p14="http://schemas.microsoft.com/office/powerpoint/2010/main" val="27335408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4431131-C81D-2055-8FD0-C6B0884B19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Exercícios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78F6FAF-D760-9327-AFC6-CA74B68DA8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t-BR" sz="2400" dirty="0"/>
              <a:t>3. Escreva um programa que leia duas </a:t>
            </a:r>
            <a:r>
              <a:rPr lang="pt-BR" sz="2400" dirty="0" err="1"/>
              <a:t>strings</a:t>
            </a:r>
            <a:r>
              <a:rPr lang="pt-BR" sz="2400" dirty="0"/>
              <a:t>. Verifique se a segunda ocorre dentro da primeira e imprima a posição início. </a:t>
            </a:r>
          </a:p>
          <a:p>
            <a:pPr marL="0" indent="0">
              <a:buNone/>
            </a:pPr>
            <a:r>
              <a:rPr lang="pt-BR" sz="2400" dirty="0"/>
              <a:t>1ª </a:t>
            </a:r>
            <a:r>
              <a:rPr lang="pt-BR" sz="2400" dirty="0" err="1"/>
              <a:t>string</a:t>
            </a:r>
            <a:r>
              <a:rPr lang="pt-BR" sz="2400" dirty="0"/>
              <a:t>: AABBEFAATT</a:t>
            </a:r>
          </a:p>
          <a:p>
            <a:pPr marL="0" indent="0">
              <a:buNone/>
            </a:pPr>
            <a:r>
              <a:rPr lang="pt-BR" sz="2400" dirty="0"/>
              <a:t>2ª </a:t>
            </a:r>
            <a:r>
              <a:rPr lang="pt-BR" sz="2400" dirty="0" err="1"/>
              <a:t>string</a:t>
            </a:r>
            <a:r>
              <a:rPr lang="pt-BR" sz="2400" dirty="0"/>
              <a:t>: BE</a:t>
            </a:r>
          </a:p>
          <a:p>
            <a:pPr marL="0" indent="0">
              <a:buNone/>
            </a:pPr>
            <a:r>
              <a:rPr lang="pt-BR" sz="2400" dirty="0"/>
              <a:t>Resultado: BE encontrado na posição 3 de AABBEFAAT</a:t>
            </a:r>
          </a:p>
          <a:p>
            <a:pPr marL="0" indent="0">
              <a:buNone/>
            </a:pPr>
            <a:endParaRPr lang="pt-BR" sz="1800" dirty="0"/>
          </a:p>
          <a:p>
            <a:pPr marL="0" indent="0">
              <a:buNone/>
            </a:pPr>
            <a:r>
              <a:rPr lang="pt-BR" sz="1800" dirty="0">
                <a:solidFill>
                  <a:srgbClr val="0070C0"/>
                </a:solidFill>
              </a:rPr>
              <a:t>primeira = "AABBEFAATT"</a:t>
            </a:r>
            <a:br>
              <a:rPr lang="pt-BR" sz="1800" dirty="0">
                <a:solidFill>
                  <a:srgbClr val="0070C0"/>
                </a:solidFill>
              </a:rPr>
            </a:br>
            <a:r>
              <a:rPr lang="pt-BR" sz="1800" dirty="0">
                <a:solidFill>
                  <a:srgbClr val="0070C0"/>
                </a:solidFill>
              </a:rPr>
              <a:t>segunda = "BE"</a:t>
            </a:r>
            <a:br>
              <a:rPr lang="pt-BR" sz="1800" dirty="0">
                <a:solidFill>
                  <a:srgbClr val="0070C0"/>
                </a:solidFill>
              </a:rPr>
            </a:br>
            <a:br>
              <a:rPr lang="pt-BR" sz="1800" dirty="0">
                <a:solidFill>
                  <a:srgbClr val="0070C0"/>
                </a:solidFill>
              </a:rPr>
            </a:br>
            <a:r>
              <a:rPr lang="pt-BR" sz="1800" dirty="0" err="1">
                <a:solidFill>
                  <a:srgbClr val="0070C0"/>
                </a:solidFill>
              </a:rPr>
              <a:t>posicao</a:t>
            </a:r>
            <a:r>
              <a:rPr lang="pt-BR" sz="1800" dirty="0">
                <a:solidFill>
                  <a:srgbClr val="0070C0"/>
                </a:solidFill>
              </a:rPr>
              <a:t> = </a:t>
            </a:r>
            <a:r>
              <a:rPr lang="pt-BR" sz="1800" dirty="0" err="1">
                <a:solidFill>
                  <a:srgbClr val="0070C0"/>
                </a:solidFill>
              </a:rPr>
              <a:t>primeira.find</a:t>
            </a:r>
            <a:r>
              <a:rPr lang="pt-BR" sz="1800" dirty="0">
                <a:solidFill>
                  <a:srgbClr val="0070C0"/>
                </a:solidFill>
              </a:rPr>
              <a:t>(segunda)</a:t>
            </a:r>
            <a:br>
              <a:rPr lang="pt-BR" sz="1800" dirty="0">
                <a:solidFill>
                  <a:srgbClr val="0070C0"/>
                </a:solidFill>
              </a:rPr>
            </a:br>
            <a:br>
              <a:rPr lang="pt-BR" sz="1800" dirty="0">
                <a:solidFill>
                  <a:srgbClr val="0070C0"/>
                </a:solidFill>
              </a:rPr>
            </a:br>
            <a:r>
              <a:rPr lang="pt-BR" sz="1800" b="1" dirty="0" err="1">
                <a:solidFill>
                  <a:srgbClr val="0070C0"/>
                </a:solidFill>
              </a:rPr>
              <a:t>if</a:t>
            </a:r>
            <a:r>
              <a:rPr lang="pt-BR" sz="1800" b="1" dirty="0">
                <a:solidFill>
                  <a:srgbClr val="0070C0"/>
                </a:solidFill>
              </a:rPr>
              <a:t> </a:t>
            </a:r>
            <a:r>
              <a:rPr lang="pt-BR" sz="1800" dirty="0" err="1">
                <a:solidFill>
                  <a:srgbClr val="0070C0"/>
                </a:solidFill>
              </a:rPr>
              <a:t>posicao</a:t>
            </a:r>
            <a:r>
              <a:rPr lang="pt-BR" sz="1800" dirty="0">
                <a:solidFill>
                  <a:srgbClr val="0070C0"/>
                </a:solidFill>
              </a:rPr>
              <a:t> == -1:</a:t>
            </a:r>
            <a:br>
              <a:rPr lang="pt-BR" sz="1800" dirty="0">
                <a:solidFill>
                  <a:srgbClr val="0070C0"/>
                </a:solidFill>
              </a:rPr>
            </a:br>
            <a:r>
              <a:rPr lang="pt-BR" sz="1800" dirty="0">
                <a:solidFill>
                  <a:srgbClr val="0070C0"/>
                </a:solidFill>
              </a:rPr>
              <a:t>    print(</a:t>
            </a:r>
            <a:r>
              <a:rPr lang="pt-BR" sz="1800" dirty="0" err="1">
                <a:solidFill>
                  <a:srgbClr val="0070C0"/>
                </a:solidFill>
              </a:rPr>
              <a:t>f</a:t>
            </a:r>
            <a:r>
              <a:rPr lang="pt-BR" sz="1800" dirty="0">
                <a:solidFill>
                  <a:srgbClr val="0070C0"/>
                </a:solidFill>
              </a:rPr>
              <a:t>"'{segunda}' não encontrada em '{primeira}.'")</a:t>
            </a:r>
            <a:br>
              <a:rPr lang="pt-BR" sz="1800" dirty="0">
                <a:solidFill>
                  <a:srgbClr val="0070C0"/>
                </a:solidFill>
              </a:rPr>
            </a:br>
            <a:r>
              <a:rPr lang="pt-BR" sz="1800" b="1" dirty="0" err="1">
                <a:solidFill>
                  <a:srgbClr val="0070C0"/>
                </a:solidFill>
              </a:rPr>
              <a:t>else</a:t>
            </a:r>
            <a:r>
              <a:rPr lang="pt-BR" sz="1800" dirty="0">
                <a:solidFill>
                  <a:srgbClr val="0070C0"/>
                </a:solidFill>
              </a:rPr>
              <a:t>:</a:t>
            </a:r>
            <a:br>
              <a:rPr lang="pt-BR" sz="1800" dirty="0">
                <a:solidFill>
                  <a:srgbClr val="0070C0"/>
                </a:solidFill>
              </a:rPr>
            </a:br>
            <a:r>
              <a:rPr lang="pt-BR" sz="1800" dirty="0">
                <a:solidFill>
                  <a:srgbClr val="0070C0"/>
                </a:solidFill>
              </a:rPr>
              <a:t>    print(</a:t>
            </a:r>
            <a:r>
              <a:rPr lang="pt-BR" sz="1800" dirty="0" err="1">
                <a:solidFill>
                  <a:srgbClr val="0070C0"/>
                </a:solidFill>
              </a:rPr>
              <a:t>f</a:t>
            </a:r>
            <a:r>
              <a:rPr lang="pt-BR" sz="1800" dirty="0">
                <a:solidFill>
                  <a:srgbClr val="0070C0"/>
                </a:solidFill>
              </a:rPr>
              <a:t>"{segunda} encontrada na posição {</a:t>
            </a:r>
            <a:r>
              <a:rPr lang="pt-BR" sz="1800" dirty="0" err="1">
                <a:solidFill>
                  <a:srgbClr val="0070C0"/>
                </a:solidFill>
              </a:rPr>
              <a:t>posicao</a:t>
            </a:r>
            <a:r>
              <a:rPr lang="pt-BR" sz="1800" dirty="0">
                <a:solidFill>
                  <a:srgbClr val="0070C0"/>
                </a:solidFill>
              </a:rPr>
              <a:t>} de {primeira}")</a:t>
            </a:r>
          </a:p>
          <a:p>
            <a:pPr marL="0" indent="0">
              <a:buNone/>
            </a:pP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26955721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616AB2A-404B-6464-8479-26F1568E21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Exercícios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A49BA1A-437F-EC0D-2D9D-249085E870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t-BR" sz="2400" dirty="0"/>
              <a:t>4. Escreva um programa que leia duas </a:t>
            </a:r>
            <a:r>
              <a:rPr lang="pt-BR" sz="2400" dirty="0" err="1"/>
              <a:t>strings</a:t>
            </a:r>
            <a:r>
              <a:rPr lang="pt-BR" sz="2400" dirty="0"/>
              <a:t> e gere uma terceira com os caracteres comuns às duas </a:t>
            </a:r>
            <a:r>
              <a:rPr lang="pt-BR" sz="2400" dirty="0" err="1"/>
              <a:t>strings</a:t>
            </a:r>
            <a:r>
              <a:rPr lang="pt-BR" sz="2400" dirty="0"/>
              <a:t> lidas.</a:t>
            </a:r>
            <a:br>
              <a:rPr lang="pt-BR" sz="2400" dirty="0"/>
            </a:br>
            <a:r>
              <a:rPr lang="pt-BR" sz="2400" dirty="0"/>
              <a:t>1ª </a:t>
            </a:r>
            <a:r>
              <a:rPr lang="pt-BR" sz="2400" dirty="0" err="1"/>
              <a:t>string</a:t>
            </a:r>
            <a:r>
              <a:rPr lang="pt-BR" sz="2400" dirty="0"/>
              <a:t>: AAACTBF</a:t>
            </a:r>
            <a:br>
              <a:rPr lang="pt-BR" sz="2400" dirty="0"/>
            </a:br>
            <a:r>
              <a:rPr lang="pt-BR" sz="2400" dirty="0"/>
              <a:t>2ª </a:t>
            </a:r>
            <a:r>
              <a:rPr lang="pt-BR" sz="2400" dirty="0" err="1"/>
              <a:t>string</a:t>
            </a:r>
            <a:r>
              <a:rPr lang="pt-BR" sz="2400" dirty="0"/>
              <a:t>: CBT</a:t>
            </a:r>
            <a:br>
              <a:rPr lang="pt-BR" sz="2400" dirty="0"/>
            </a:br>
            <a:r>
              <a:rPr lang="pt-BR" sz="2400" dirty="0"/>
              <a:t>Resultado: CBT</a:t>
            </a:r>
            <a:br>
              <a:rPr lang="pt-BR" sz="2400" dirty="0"/>
            </a:br>
            <a:r>
              <a:rPr lang="pt-BR" sz="2400" dirty="0"/>
              <a:t>A ordem dos caracteres da </a:t>
            </a:r>
            <a:r>
              <a:rPr lang="pt-BR" sz="2400" dirty="0" err="1"/>
              <a:t>string</a:t>
            </a:r>
            <a:r>
              <a:rPr lang="pt-BR" sz="2400" dirty="0"/>
              <a:t> gerada não é importante, mas deve conter todas as letras comuns a ambas.</a:t>
            </a:r>
          </a:p>
          <a:p>
            <a:pPr marL="0" indent="0">
              <a:buNone/>
            </a:pPr>
            <a:endParaRPr lang="pt-BR" sz="1800" dirty="0"/>
          </a:p>
          <a:p>
            <a:pPr marL="0" indent="0">
              <a:buNone/>
            </a:pPr>
            <a:endParaRPr lang="pt-BR" sz="1800" dirty="0"/>
          </a:p>
        </p:txBody>
      </p:sp>
    </p:spTree>
    <p:extLst>
      <p:ext uri="{BB962C8B-B14F-4D97-AF65-F5344CB8AC3E}">
        <p14:creationId xmlns:p14="http://schemas.microsoft.com/office/powerpoint/2010/main" val="28440672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7BB3E4-745A-6D34-50B1-F3E79898D2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Exercícios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9653773-D902-4F80-C0A7-28BFC71559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t-BR" sz="1800" dirty="0">
                <a:solidFill>
                  <a:srgbClr val="0070C0"/>
                </a:solidFill>
              </a:rPr>
              <a:t>primeira = "AAACTBG"</a:t>
            </a:r>
            <a:br>
              <a:rPr lang="pt-BR" sz="1800" dirty="0">
                <a:solidFill>
                  <a:srgbClr val="0070C0"/>
                </a:solidFill>
              </a:rPr>
            </a:br>
            <a:r>
              <a:rPr lang="pt-BR" sz="1800" dirty="0">
                <a:solidFill>
                  <a:srgbClr val="0070C0"/>
                </a:solidFill>
              </a:rPr>
              <a:t>segunda = "CBT"</a:t>
            </a:r>
            <a:br>
              <a:rPr lang="pt-BR" sz="1800" dirty="0">
                <a:solidFill>
                  <a:srgbClr val="0070C0"/>
                </a:solidFill>
              </a:rPr>
            </a:br>
            <a:r>
              <a:rPr lang="pt-BR" sz="1800" dirty="0">
                <a:solidFill>
                  <a:srgbClr val="0070C0"/>
                </a:solidFill>
              </a:rPr>
              <a:t>terceira = ""</a:t>
            </a:r>
            <a:br>
              <a:rPr lang="pt-BR" sz="1800" dirty="0"/>
            </a:br>
            <a:br>
              <a:rPr lang="pt-BR" sz="1800" dirty="0"/>
            </a:br>
            <a:r>
              <a:rPr lang="pt-BR" sz="1800" dirty="0">
                <a:solidFill>
                  <a:schemeClr val="bg1">
                    <a:lumMod val="50000"/>
                  </a:schemeClr>
                </a:solidFill>
              </a:rPr>
              <a:t># Para cada letra na primeira </a:t>
            </a:r>
            <a:r>
              <a:rPr lang="pt-BR" sz="1800" dirty="0" err="1">
                <a:solidFill>
                  <a:schemeClr val="bg1">
                    <a:lumMod val="50000"/>
                  </a:schemeClr>
                </a:solidFill>
              </a:rPr>
              <a:t>string</a:t>
            </a:r>
            <a:br>
              <a:rPr lang="pt-BR" sz="1800" dirty="0"/>
            </a:br>
            <a:r>
              <a:rPr lang="pt-BR" sz="1800" b="1" dirty="0">
                <a:solidFill>
                  <a:srgbClr val="0070C0"/>
                </a:solidFill>
              </a:rPr>
              <a:t>for </a:t>
            </a:r>
            <a:r>
              <a:rPr lang="pt-BR" sz="1800" dirty="0">
                <a:solidFill>
                  <a:srgbClr val="0070C0"/>
                </a:solidFill>
              </a:rPr>
              <a:t>letra </a:t>
            </a:r>
            <a:r>
              <a:rPr lang="pt-BR" sz="1800" b="1" dirty="0">
                <a:solidFill>
                  <a:srgbClr val="0070C0"/>
                </a:solidFill>
              </a:rPr>
              <a:t>in </a:t>
            </a:r>
            <a:r>
              <a:rPr lang="pt-BR" sz="1800" dirty="0">
                <a:solidFill>
                  <a:srgbClr val="0070C0"/>
                </a:solidFill>
              </a:rPr>
              <a:t>primeira:</a:t>
            </a:r>
            <a:br>
              <a:rPr lang="pt-BR" sz="1800" dirty="0"/>
            </a:br>
            <a:r>
              <a:rPr lang="pt-BR" sz="1800" dirty="0">
                <a:solidFill>
                  <a:schemeClr val="bg1">
                    <a:lumMod val="50000"/>
                  </a:schemeClr>
                </a:solidFill>
              </a:rPr>
              <a:t>    # Se a letra está na segunda </a:t>
            </a:r>
            <a:r>
              <a:rPr lang="pt-BR" sz="1800" dirty="0" err="1">
                <a:solidFill>
                  <a:schemeClr val="bg1">
                    <a:lumMod val="50000"/>
                  </a:schemeClr>
                </a:solidFill>
              </a:rPr>
              <a:t>string</a:t>
            </a:r>
            <a:r>
              <a:rPr lang="pt-BR" sz="1800" dirty="0">
                <a:solidFill>
                  <a:schemeClr val="bg1">
                    <a:lumMod val="50000"/>
                  </a:schemeClr>
                </a:solidFill>
              </a:rPr>
              <a:t> (comum a ambas)</a:t>
            </a:r>
            <a:br>
              <a:rPr lang="pt-BR" sz="1800" dirty="0">
                <a:solidFill>
                  <a:schemeClr val="bg1">
                    <a:lumMod val="50000"/>
                  </a:schemeClr>
                </a:solidFill>
              </a:rPr>
            </a:br>
            <a:r>
              <a:rPr lang="pt-BR" sz="1800" dirty="0">
                <a:solidFill>
                  <a:schemeClr val="bg1">
                    <a:lumMod val="50000"/>
                  </a:schemeClr>
                </a:solidFill>
              </a:rPr>
              <a:t>    # Para evitar repetidas, não deve estar na terceira.</a:t>
            </a:r>
            <a:br>
              <a:rPr lang="pt-BR" sz="1800" dirty="0"/>
            </a:br>
            <a:r>
              <a:rPr lang="pt-BR" sz="1800" dirty="0">
                <a:solidFill>
                  <a:srgbClr val="0070C0"/>
                </a:solidFill>
              </a:rPr>
              <a:t>    </a:t>
            </a:r>
            <a:r>
              <a:rPr lang="pt-BR" sz="1800" b="1" dirty="0" err="1">
                <a:solidFill>
                  <a:srgbClr val="0070C0"/>
                </a:solidFill>
              </a:rPr>
              <a:t>if</a:t>
            </a:r>
            <a:r>
              <a:rPr lang="pt-BR" sz="1800" b="1" dirty="0">
                <a:solidFill>
                  <a:srgbClr val="0070C0"/>
                </a:solidFill>
              </a:rPr>
              <a:t> </a:t>
            </a:r>
            <a:r>
              <a:rPr lang="pt-BR" sz="1800" dirty="0">
                <a:solidFill>
                  <a:srgbClr val="0070C0"/>
                </a:solidFill>
              </a:rPr>
              <a:t>letra </a:t>
            </a:r>
            <a:r>
              <a:rPr lang="pt-BR" sz="1800" b="1" dirty="0">
                <a:solidFill>
                  <a:srgbClr val="0070C0"/>
                </a:solidFill>
              </a:rPr>
              <a:t>in </a:t>
            </a:r>
            <a:r>
              <a:rPr lang="pt-BR" sz="1800" dirty="0">
                <a:solidFill>
                  <a:srgbClr val="0070C0"/>
                </a:solidFill>
              </a:rPr>
              <a:t>segunda </a:t>
            </a:r>
            <a:r>
              <a:rPr lang="pt-BR" sz="1800" b="1" dirty="0" err="1">
                <a:solidFill>
                  <a:srgbClr val="0070C0"/>
                </a:solidFill>
              </a:rPr>
              <a:t>and</a:t>
            </a:r>
            <a:r>
              <a:rPr lang="pt-BR" sz="1800" b="1" dirty="0">
                <a:solidFill>
                  <a:srgbClr val="0070C0"/>
                </a:solidFill>
              </a:rPr>
              <a:t> </a:t>
            </a:r>
            <a:r>
              <a:rPr lang="pt-BR" sz="1800" dirty="0">
                <a:solidFill>
                  <a:srgbClr val="0070C0"/>
                </a:solidFill>
              </a:rPr>
              <a:t>letra </a:t>
            </a:r>
            <a:r>
              <a:rPr lang="pt-BR" sz="1800" b="1" dirty="0" err="1">
                <a:solidFill>
                  <a:srgbClr val="0070C0"/>
                </a:solidFill>
              </a:rPr>
              <a:t>not</a:t>
            </a:r>
            <a:r>
              <a:rPr lang="pt-BR" sz="1800" b="1" dirty="0">
                <a:solidFill>
                  <a:srgbClr val="0070C0"/>
                </a:solidFill>
              </a:rPr>
              <a:t> in </a:t>
            </a:r>
            <a:r>
              <a:rPr lang="pt-BR" sz="1800" dirty="0">
                <a:solidFill>
                  <a:srgbClr val="0070C0"/>
                </a:solidFill>
              </a:rPr>
              <a:t>terceira:</a:t>
            </a:r>
            <a:br>
              <a:rPr lang="pt-BR" sz="1800" dirty="0">
                <a:solidFill>
                  <a:srgbClr val="0070C0"/>
                </a:solidFill>
              </a:rPr>
            </a:br>
            <a:r>
              <a:rPr lang="pt-BR" sz="1800" dirty="0">
                <a:solidFill>
                  <a:srgbClr val="0070C0"/>
                </a:solidFill>
              </a:rPr>
              <a:t>        terceira += letra</a:t>
            </a:r>
            <a:br>
              <a:rPr lang="pt-BR" sz="1800" dirty="0">
                <a:solidFill>
                  <a:srgbClr val="0070C0"/>
                </a:solidFill>
              </a:rPr>
            </a:br>
            <a:br>
              <a:rPr lang="pt-BR" sz="1800" dirty="0">
                <a:solidFill>
                  <a:srgbClr val="0070C0"/>
                </a:solidFill>
              </a:rPr>
            </a:br>
            <a:r>
              <a:rPr lang="pt-BR" sz="1800" dirty="0">
                <a:solidFill>
                  <a:srgbClr val="0070C0"/>
                </a:solidFill>
              </a:rPr>
              <a:t>print(</a:t>
            </a:r>
            <a:r>
              <a:rPr lang="pt-BR" sz="1800" dirty="0" err="1">
                <a:solidFill>
                  <a:srgbClr val="0070C0"/>
                </a:solidFill>
              </a:rPr>
              <a:t>f"Terceira</a:t>
            </a:r>
            <a:r>
              <a:rPr lang="pt-BR" sz="1800" dirty="0">
                <a:solidFill>
                  <a:srgbClr val="0070C0"/>
                </a:solidFill>
              </a:rPr>
              <a:t> </a:t>
            </a:r>
            <a:r>
              <a:rPr lang="pt-BR" sz="1800" dirty="0" err="1">
                <a:solidFill>
                  <a:srgbClr val="0070C0"/>
                </a:solidFill>
              </a:rPr>
              <a:t>string</a:t>
            </a:r>
            <a:r>
              <a:rPr lang="pt-BR" sz="1800" dirty="0">
                <a:solidFill>
                  <a:srgbClr val="0070C0"/>
                </a:solidFill>
              </a:rPr>
              <a:t>: {terceira}")</a:t>
            </a:r>
          </a:p>
          <a:p>
            <a:pPr marL="0" indent="0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6028579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EAF1DED-E5BE-D595-CC22-A26EB309D4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Exercícios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CBDE496-2C92-66F8-1D8A-58574EBA9F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t-BR" sz="2400" dirty="0"/>
              <a:t>5. Escreva um programa que leia duas </a:t>
            </a:r>
            <a:r>
              <a:rPr lang="pt-BR" sz="2400" dirty="0" err="1"/>
              <a:t>strings</a:t>
            </a:r>
            <a:r>
              <a:rPr lang="pt-BR" sz="2400" dirty="0"/>
              <a:t> e gere uma terceira apenas com os caracteres que aparecem em uma delas.</a:t>
            </a:r>
            <a:br>
              <a:rPr lang="pt-BR" sz="2400" dirty="0"/>
            </a:br>
            <a:r>
              <a:rPr lang="pt-BR" sz="2400" dirty="0"/>
              <a:t>1ª </a:t>
            </a:r>
            <a:r>
              <a:rPr lang="pt-BR" sz="2400" dirty="0" err="1"/>
              <a:t>string</a:t>
            </a:r>
            <a:r>
              <a:rPr lang="pt-BR" sz="2400" dirty="0"/>
              <a:t>: CTA</a:t>
            </a:r>
            <a:br>
              <a:rPr lang="pt-BR" sz="2400" dirty="0"/>
            </a:br>
            <a:r>
              <a:rPr lang="pt-BR" sz="2400" dirty="0"/>
              <a:t>2ª </a:t>
            </a:r>
            <a:r>
              <a:rPr lang="pt-BR" sz="2400" dirty="0" err="1"/>
              <a:t>string</a:t>
            </a:r>
            <a:r>
              <a:rPr lang="pt-BR" sz="2400" dirty="0"/>
              <a:t>: ABC</a:t>
            </a:r>
            <a:br>
              <a:rPr lang="pt-BR" sz="2400" dirty="0"/>
            </a:br>
            <a:r>
              <a:rPr lang="pt-BR" sz="2400" dirty="0"/>
              <a:t>A ordem dos caracteres da terceira </a:t>
            </a:r>
            <a:r>
              <a:rPr lang="pt-BR" sz="2400" dirty="0" err="1"/>
              <a:t>string</a:t>
            </a:r>
            <a:r>
              <a:rPr lang="pt-BR" sz="2400" dirty="0"/>
              <a:t> não é importante.</a:t>
            </a:r>
          </a:p>
          <a:p>
            <a:pPr marL="0" indent="0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677957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0D7BD9-C058-4869-EE84-AE2E70CDE4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Exercícios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CF1BAC7-7969-936F-2D4C-6ADE0C69D8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t-BR" sz="1800" dirty="0">
                <a:solidFill>
                  <a:srgbClr val="0070C0"/>
                </a:solidFill>
              </a:rPr>
              <a:t>primeira = "CTA"</a:t>
            </a:r>
            <a:br>
              <a:rPr lang="pt-BR" sz="1800" dirty="0">
                <a:solidFill>
                  <a:srgbClr val="0070C0"/>
                </a:solidFill>
              </a:rPr>
            </a:br>
            <a:r>
              <a:rPr lang="pt-BR" sz="1800" dirty="0">
                <a:solidFill>
                  <a:srgbClr val="0070C0"/>
                </a:solidFill>
              </a:rPr>
              <a:t>segunda = "ABC"</a:t>
            </a:r>
            <a:br>
              <a:rPr lang="pt-BR" sz="1800" dirty="0">
                <a:solidFill>
                  <a:srgbClr val="0070C0"/>
                </a:solidFill>
              </a:rPr>
            </a:br>
            <a:r>
              <a:rPr lang="pt-BR" sz="1800" dirty="0">
                <a:solidFill>
                  <a:srgbClr val="0070C0"/>
                </a:solidFill>
              </a:rPr>
              <a:t>terceira = ""</a:t>
            </a:r>
            <a:br>
              <a:rPr lang="pt-BR" sz="1800" dirty="0"/>
            </a:br>
            <a:br>
              <a:rPr lang="pt-BR" sz="1800" dirty="0"/>
            </a:br>
            <a:r>
              <a:rPr lang="pt-BR" sz="1800" dirty="0">
                <a:solidFill>
                  <a:schemeClr val="bg1">
                    <a:lumMod val="50000"/>
                  </a:schemeClr>
                </a:solidFill>
              </a:rPr>
              <a:t># Para cada letra na primeira </a:t>
            </a:r>
            <a:r>
              <a:rPr lang="pt-BR" sz="1800" dirty="0" err="1">
                <a:solidFill>
                  <a:schemeClr val="bg1">
                    <a:lumMod val="50000"/>
                  </a:schemeClr>
                </a:solidFill>
              </a:rPr>
              <a:t>string</a:t>
            </a:r>
            <a:br>
              <a:rPr lang="pt-BR" sz="1800" dirty="0"/>
            </a:br>
            <a:r>
              <a:rPr lang="pt-BR" sz="1800" b="1" dirty="0">
                <a:solidFill>
                  <a:srgbClr val="0070C0"/>
                </a:solidFill>
              </a:rPr>
              <a:t>for </a:t>
            </a:r>
            <a:r>
              <a:rPr lang="pt-BR" sz="1800" dirty="0">
                <a:solidFill>
                  <a:srgbClr val="0070C0"/>
                </a:solidFill>
              </a:rPr>
              <a:t>letra </a:t>
            </a:r>
            <a:r>
              <a:rPr lang="pt-BR" sz="1800" b="1" dirty="0">
                <a:solidFill>
                  <a:srgbClr val="0070C0"/>
                </a:solidFill>
              </a:rPr>
              <a:t>in </a:t>
            </a:r>
            <a:r>
              <a:rPr lang="pt-BR" sz="1800" dirty="0">
                <a:solidFill>
                  <a:srgbClr val="0070C0"/>
                </a:solidFill>
              </a:rPr>
              <a:t>primeira:</a:t>
            </a:r>
            <a:br>
              <a:rPr lang="pt-BR" sz="1800" dirty="0"/>
            </a:br>
            <a:r>
              <a:rPr lang="pt-BR" sz="1800" dirty="0">
                <a:solidFill>
                  <a:schemeClr val="bg1">
                    <a:lumMod val="50000"/>
                  </a:schemeClr>
                </a:solidFill>
              </a:rPr>
              <a:t>    # Verifica se a letra não aparece dentro da segunda </a:t>
            </a:r>
            <a:r>
              <a:rPr lang="pt-BR" sz="1800" dirty="0" err="1">
                <a:solidFill>
                  <a:schemeClr val="bg1">
                    <a:lumMod val="50000"/>
                  </a:schemeClr>
                </a:solidFill>
              </a:rPr>
              <a:t>string</a:t>
            </a:r>
            <a:br>
              <a:rPr lang="pt-BR" sz="1800" dirty="0">
                <a:solidFill>
                  <a:schemeClr val="bg1">
                    <a:lumMod val="50000"/>
                  </a:schemeClr>
                </a:solidFill>
              </a:rPr>
            </a:br>
            <a:r>
              <a:rPr lang="pt-BR" sz="1800" dirty="0">
                <a:solidFill>
                  <a:schemeClr val="bg1">
                    <a:lumMod val="50000"/>
                  </a:schemeClr>
                </a:solidFill>
              </a:rPr>
              <a:t>    # e também se já não está listada na terceira</a:t>
            </a:r>
            <a:br>
              <a:rPr lang="pt-BR" sz="1800" dirty="0"/>
            </a:br>
            <a:r>
              <a:rPr lang="pt-BR" sz="1800" dirty="0">
                <a:solidFill>
                  <a:srgbClr val="0070C0"/>
                </a:solidFill>
              </a:rPr>
              <a:t>    </a:t>
            </a:r>
            <a:r>
              <a:rPr lang="pt-BR" sz="1800" b="1" dirty="0" err="1">
                <a:solidFill>
                  <a:srgbClr val="0070C0"/>
                </a:solidFill>
              </a:rPr>
              <a:t>if</a:t>
            </a:r>
            <a:r>
              <a:rPr lang="pt-BR" sz="1800" b="1" dirty="0">
                <a:solidFill>
                  <a:srgbClr val="0070C0"/>
                </a:solidFill>
              </a:rPr>
              <a:t> </a:t>
            </a:r>
            <a:r>
              <a:rPr lang="pt-BR" sz="1800" dirty="0">
                <a:solidFill>
                  <a:srgbClr val="0070C0"/>
                </a:solidFill>
              </a:rPr>
              <a:t>letra </a:t>
            </a:r>
            <a:r>
              <a:rPr lang="pt-BR" sz="1800" b="1" dirty="0" err="1">
                <a:solidFill>
                  <a:srgbClr val="0070C0"/>
                </a:solidFill>
              </a:rPr>
              <a:t>not</a:t>
            </a:r>
            <a:r>
              <a:rPr lang="pt-BR" sz="1800" b="1" dirty="0">
                <a:solidFill>
                  <a:srgbClr val="0070C0"/>
                </a:solidFill>
              </a:rPr>
              <a:t> in </a:t>
            </a:r>
            <a:r>
              <a:rPr lang="pt-BR" sz="1800" dirty="0">
                <a:solidFill>
                  <a:srgbClr val="0070C0"/>
                </a:solidFill>
              </a:rPr>
              <a:t>segunda </a:t>
            </a:r>
            <a:r>
              <a:rPr lang="pt-BR" sz="1800" b="1" dirty="0" err="1">
                <a:solidFill>
                  <a:srgbClr val="0070C0"/>
                </a:solidFill>
              </a:rPr>
              <a:t>and</a:t>
            </a:r>
            <a:r>
              <a:rPr lang="pt-BR" sz="1800" b="1" dirty="0">
                <a:solidFill>
                  <a:srgbClr val="0070C0"/>
                </a:solidFill>
              </a:rPr>
              <a:t> </a:t>
            </a:r>
            <a:r>
              <a:rPr lang="pt-BR" sz="1800" dirty="0">
                <a:solidFill>
                  <a:srgbClr val="0070C0"/>
                </a:solidFill>
              </a:rPr>
              <a:t>letra </a:t>
            </a:r>
            <a:r>
              <a:rPr lang="pt-BR" sz="1800" b="1" dirty="0" err="1">
                <a:solidFill>
                  <a:srgbClr val="0070C0"/>
                </a:solidFill>
              </a:rPr>
              <a:t>not</a:t>
            </a:r>
            <a:r>
              <a:rPr lang="pt-BR" sz="1800" b="1" dirty="0">
                <a:solidFill>
                  <a:srgbClr val="0070C0"/>
                </a:solidFill>
              </a:rPr>
              <a:t> in </a:t>
            </a:r>
            <a:r>
              <a:rPr lang="pt-BR" sz="1800" dirty="0">
                <a:solidFill>
                  <a:srgbClr val="0070C0"/>
                </a:solidFill>
              </a:rPr>
              <a:t>terceira:</a:t>
            </a:r>
            <a:br>
              <a:rPr lang="pt-BR" sz="1800" dirty="0">
                <a:solidFill>
                  <a:srgbClr val="0070C0"/>
                </a:solidFill>
              </a:rPr>
            </a:br>
            <a:r>
              <a:rPr lang="pt-BR" sz="1800" dirty="0">
                <a:solidFill>
                  <a:srgbClr val="0070C0"/>
                </a:solidFill>
              </a:rPr>
              <a:t>        terceira += letra</a:t>
            </a:r>
            <a:br>
              <a:rPr lang="pt-BR" sz="1800" dirty="0"/>
            </a:br>
            <a:br>
              <a:rPr lang="pt-BR" sz="1800" dirty="0"/>
            </a:br>
            <a:r>
              <a:rPr lang="pt-BR" sz="1800" dirty="0">
                <a:solidFill>
                  <a:schemeClr val="bg1">
                    <a:lumMod val="50000"/>
                  </a:schemeClr>
                </a:solidFill>
              </a:rPr>
              <a:t># Para cada letra na segunda </a:t>
            </a:r>
            <a:r>
              <a:rPr lang="pt-BR" sz="1800" dirty="0" err="1">
                <a:solidFill>
                  <a:schemeClr val="bg1">
                    <a:lumMod val="50000"/>
                  </a:schemeClr>
                </a:solidFill>
              </a:rPr>
              <a:t>string</a:t>
            </a:r>
            <a:br>
              <a:rPr lang="pt-BR" sz="1800" dirty="0"/>
            </a:br>
            <a:r>
              <a:rPr lang="pt-BR" sz="1800" b="1" dirty="0">
                <a:solidFill>
                  <a:srgbClr val="0070C0"/>
                </a:solidFill>
              </a:rPr>
              <a:t>for </a:t>
            </a:r>
            <a:r>
              <a:rPr lang="pt-BR" sz="1800" dirty="0">
                <a:solidFill>
                  <a:srgbClr val="0070C0"/>
                </a:solidFill>
              </a:rPr>
              <a:t>letra </a:t>
            </a:r>
            <a:r>
              <a:rPr lang="pt-BR" sz="1800" b="1" dirty="0">
                <a:solidFill>
                  <a:srgbClr val="0070C0"/>
                </a:solidFill>
              </a:rPr>
              <a:t>in </a:t>
            </a:r>
            <a:r>
              <a:rPr lang="pt-BR" sz="1800" dirty="0">
                <a:solidFill>
                  <a:srgbClr val="0070C0"/>
                </a:solidFill>
              </a:rPr>
              <a:t>segunda:</a:t>
            </a:r>
            <a:br>
              <a:rPr lang="pt-BR" sz="1800" dirty="0"/>
            </a:br>
            <a:r>
              <a:rPr lang="pt-BR" sz="1800" dirty="0">
                <a:solidFill>
                  <a:schemeClr val="bg1">
                    <a:lumMod val="50000"/>
                  </a:schemeClr>
                </a:solidFill>
              </a:rPr>
              <a:t>    # Além de não estar na primeira </a:t>
            </a:r>
            <a:r>
              <a:rPr lang="pt-BR" sz="1800" dirty="0" err="1">
                <a:solidFill>
                  <a:schemeClr val="bg1">
                    <a:lumMod val="50000"/>
                  </a:schemeClr>
                </a:solidFill>
              </a:rPr>
              <a:t>string</a:t>
            </a:r>
            <a:r>
              <a:rPr lang="pt-BR" sz="1800" dirty="0">
                <a:solidFill>
                  <a:schemeClr val="bg1">
                    <a:lumMod val="50000"/>
                  </a:schemeClr>
                </a:solidFill>
              </a:rPr>
              <a:t>,</a:t>
            </a:r>
            <a:br>
              <a:rPr lang="pt-BR" sz="1800" dirty="0">
                <a:solidFill>
                  <a:schemeClr val="bg1">
                    <a:lumMod val="50000"/>
                  </a:schemeClr>
                </a:solidFill>
              </a:rPr>
            </a:br>
            <a:r>
              <a:rPr lang="pt-BR" sz="1800" dirty="0">
                <a:solidFill>
                  <a:schemeClr val="bg1">
                    <a:lumMod val="50000"/>
                  </a:schemeClr>
                </a:solidFill>
              </a:rPr>
              <a:t>    # verifica se já não está na terceira (evitar repetições)</a:t>
            </a:r>
            <a:br>
              <a:rPr lang="pt-BR" sz="1800" dirty="0"/>
            </a:br>
            <a:r>
              <a:rPr lang="pt-BR" sz="1800" dirty="0">
                <a:solidFill>
                  <a:srgbClr val="0070C0"/>
                </a:solidFill>
              </a:rPr>
              <a:t>    </a:t>
            </a:r>
            <a:r>
              <a:rPr lang="pt-BR" sz="1800" b="1" dirty="0" err="1">
                <a:solidFill>
                  <a:srgbClr val="0070C0"/>
                </a:solidFill>
              </a:rPr>
              <a:t>if</a:t>
            </a:r>
            <a:r>
              <a:rPr lang="pt-BR" sz="1800" b="1" dirty="0">
                <a:solidFill>
                  <a:srgbClr val="0070C0"/>
                </a:solidFill>
              </a:rPr>
              <a:t> </a:t>
            </a:r>
            <a:r>
              <a:rPr lang="pt-BR" sz="1800" dirty="0">
                <a:solidFill>
                  <a:srgbClr val="0070C0"/>
                </a:solidFill>
              </a:rPr>
              <a:t>letra </a:t>
            </a:r>
            <a:r>
              <a:rPr lang="pt-BR" sz="1800" b="1" dirty="0" err="1">
                <a:solidFill>
                  <a:srgbClr val="0070C0"/>
                </a:solidFill>
              </a:rPr>
              <a:t>not</a:t>
            </a:r>
            <a:r>
              <a:rPr lang="pt-BR" sz="1800" b="1" dirty="0">
                <a:solidFill>
                  <a:srgbClr val="0070C0"/>
                </a:solidFill>
              </a:rPr>
              <a:t> in </a:t>
            </a:r>
            <a:r>
              <a:rPr lang="pt-BR" sz="1800" dirty="0">
                <a:solidFill>
                  <a:srgbClr val="0070C0"/>
                </a:solidFill>
              </a:rPr>
              <a:t>primeira </a:t>
            </a:r>
            <a:r>
              <a:rPr lang="pt-BR" sz="1800" b="1" dirty="0" err="1">
                <a:solidFill>
                  <a:srgbClr val="0070C0"/>
                </a:solidFill>
              </a:rPr>
              <a:t>and</a:t>
            </a:r>
            <a:r>
              <a:rPr lang="pt-BR" sz="1800" b="1" dirty="0">
                <a:solidFill>
                  <a:srgbClr val="0070C0"/>
                </a:solidFill>
              </a:rPr>
              <a:t> </a:t>
            </a:r>
            <a:r>
              <a:rPr lang="pt-BR" sz="1800" dirty="0">
                <a:solidFill>
                  <a:srgbClr val="0070C0"/>
                </a:solidFill>
              </a:rPr>
              <a:t>letra </a:t>
            </a:r>
            <a:r>
              <a:rPr lang="pt-BR" sz="1800" b="1" dirty="0" err="1">
                <a:solidFill>
                  <a:srgbClr val="0070C0"/>
                </a:solidFill>
              </a:rPr>
              <a:t>not</a:t>
            </a:r>
            <a:r>
              <a:rPr lang="pt-BR" sz="1800" b="1" dirty="0">
                <a:solidFill>
                  <a:srgbClr val="0070C0"/>
                </a:solidFill>
              </a:rPr>
              <a:t> in </a:t>
            </a:r>
            <a:r>
              <a:rPr lang="pt-BR" sz="1800" dirty="0">
                <a:solidFill>
                  <a:srgbClr val="0070C0"/>
                </a:solidFill>
              </a:rPr>
              <a:t>terceira:</a:t>
            </a:r>
            <a:br>
              <a:rPr lang="pt-BR" sz="1800" dirty="0">
                <a:solidFill>
                  <a:srgbClr val="0070C0"/>
                </a:solidFill>
              </a:rPr>
            </a:br>
            <a:r>
              <a:rPr lang="pt-BR" sz="1800" dirty="0">
                <a:solidFill>
                  <a:srgbClr val="0070C0"/>
                </a:solidFill>
              </a:rPr>
              <a:t>        terceira += letra</a:t>
            </a:r>
            <a:br>
              <a:rPr lang="pt-BR" sz="1800" dirty="0">
                <a:solidFill>
                  <a:srgbClr val="0070C0"/>
                </a:solidFill>
              </a:rPr>
            </a:br>
            <a:br>
              <a:rPr lang="pt-BR" sz="1800" dirty="0">
                <a:solidFill>
                  <a:srgbClr val="0070C0"/>
                </a:solidFill>
              </a:rPr>
            </a:br>
            <a:r>
              <a:rPr lang="pt-BR" sz="1800" dirty="0">
                <a:solidFill>
                  <a:srgbClr val="0070C0"/>
                </a:solidFill>
              </a:rPr>
              <a:t>print(</a:t>
            </a:r>
            <a:r>
              <a:rPr lang="pt-BR" sz="1800" dirty="0" err="1">
                <a:solidFill>
                  <a:srgbClr val="0070C0"/>
                </a:solidFill>
              </a:rPr>
              <a:t>f"Terceira</a:t>
            </a:r>
            <a:r>
              <a:rPr lang="pt-BR" sz="1800" dirty="0">
                <a:solidFill>
                  <a:srgbClr val="0070C0"/>
                </a:solidFill>
              </a:rPr>
              <a:t> </a:t>
            </a:r>
            <a:r>
              <a:rPr lang="pt-BR" sz="1800" dirty="0" err="1">
                <a:solidFill>
                  <a:srgbClr val="0070C0"/>
                </a:solidFill>
              </a:rPr>
              <a:t>string</a:t>
            </a:r>
            <a:r>
              <a:rPr lang="pt-BR" sz="1800" dirty="0">
                <a:solidFill>
                  <a:srgbClr val="0070C0"/>
                </a:solidFill>
              </a:rPr>
              <a:t>: {terceira}")</a:t>
            </a:r>
          </a:p>
        </p:txBody>
      </p:sp>
    </p:spTree>
    <p:extLst>
      <p:ext uri="{BB962C8B-B14F-4D97-AF65-F5344CB8AC3E}">
        <p14:creationId xmlns:p14="http://schemas.microsoft.com/office/powerpoint/2010/main" val="11545721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DA0902-5703-0606-38F6-648D5FF9CB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Exercícios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6021D53-0FF9-E072-99E2-66C4243A67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t-BR" sz="2400" dirty="0"/>
              <a:t>6. Escreva um programa que leia uma </a:t>
            </a:r>
            <a:r>
              <a:rPr lang="pt-BR" sz="2400" dirty="0" err="1"/>
              <a:t>string</a:t>
            </a:r>
            <a:r>
              <a:rPr lang="pt-BR" sz="2400" dirty="0"/>
              <a:t> e imprima quantas vezes cada caractere aparece nessa </a:t>
            </a:r>
            <a:r>
              <a:rPr lang="pt-BR" sz="2400" dirty="0" err="1"/>
              <a:t>string</a:t>
            </a:r>
            <a:r>
              <a:rPr lang="pt-BR" sz="2400" dirty="0"/>
              <a:t>.</a:t>
            </a:r>
            <a:br>
              <a:rPr lang="pt-BR" sz="2400" dirty="0"/>
            </a:br>
            <a:r>
              <a:rPr lang="pt-BR" sz="2400" dirty="0" err="1"/>
              <a:t>String</a:t>
            </a:r>
            <a:r>
              <a:rPr lang="pt-BR" sz="2400" dirty="0"/>
              <a:t>: TTAAC</a:t>
            </a:r>
            <a:br>
              <a:rPr lang="pt-BR" sz="2400" dirty="0"/>
            </a:br>
            <a:r>
              <a:rPr lang="pt-BR" sz="2400" dirty="0"/>
              <a:t>Resultado:</a:t>
            </a:r>
            <a:br>
              <a:rPr lang="pt-BR" sz="2400" dirty="0"/>
            </a:br>
            <a:r>
              <a:rPr lang="pt-BR" sz="2400" dirty="0" err="1"/>
              <a:t>T</a:t>
            </a:r>
            <a:r>
              <a:rPr lang="pt-BR" sz="2400" dirty="0"/>
              <a:t>: 2x</a:t>
            </a:r>
            <a:br>
              <a:rPr lang="pt-BR" sz="2400" dirty="0"/>
            </a:br>
            <a:r>
              <a:rPr lang="pt-BR" sz="2400" dirty="0"/>
              <a:t>A: 2x</a:t>
            </a:r>
            <a:br>
              <a:rPr lang="pt-BR" sz="2400" dirty="0"/>
            </a:br>
            <a:r>
              <a:rPr lang="pt-BR" sz="2400" dirty="0"/>
              <a:t>C: 1x</a:t>
            </a:r>
          </a:p>
          <a:p>
            <a:pPr marL="0" indent="0">
              <a:buNone/>
            </a:pPr>
            <a:endParaRPr lang="pt-BR" sz="1800" dirty="0"/>
          </a:p>
          <a:p>
            <a:pPr marL="0" indent="0">
              <a:buNone/>
            </a:pPr>
            <a:r>
              <a:rPr lang="pt-BR" sz="1800" dirty="0" err="1">
                <a:solidFill>
                  <a:srgbClr val="0070C0"/>
                </a:solidFill>
              </a:rPr>
              <a:t>string</a:t>
            </a:r>
            <a:r>
              <a:rPr lang="pt-BR" sz="1800" dirty="0">
                <a:solidFill>
                  <a:srgbClr val="0070C0"/>
                </a:solidFill>
              </a:rPr>
              <a:t> = "TTAAC"</a:t>
            </a:r>
            <a:br>
              <a:rPr lang="pt-BR" sz="1800" dirty="0">
                <a:solidFill>
                  <a:srgbClr val="0070C0"/>
                </a:solidFill>
              </a:rPr>
            </a:br>
            <a:br>
              <a:rPr lang="pt-BR" sz="1800" dirty="0">
                <a:solidFill>
                  <a:srgbClr val="0070C0"/>
                </a:solidFill>
              </a:rPr>
            </a:br>
            <a:r>
              <a:rPr lang="pt-BR" sz="1800" dirty="0">
                <a:solidFill>
                  <a:srgbClr val="0070C0"/>
                </a:solidFill>
              </a:rPr>
              <a:t>contador = {}</a:t>
            </a:r>
            <a:br>
              <a:rPr lang="pt-BR" sz="1800" dirty="0">
                <a:solidFill>
                  <a:srgbClr val="0070C0"/>
                </a:solidFill>
              </a:rPr>
            </a:br>
            <a:br>
              <a:rPr lang="pt-BR" sz="1800" dirty="0">
                <a:solidFill>
                  <a:srgbClr val="0070C0"/>
                </a:solidFill>
              </a:rPr>
            </a:br>
            <a:r>
              <a:rPr lang="pt-BR" sz="1800" b="1" dirty="0">
                <a:solidFill>
                  <a:srgbClr val="0070C0"/>
                </a:solidFill>
              </a:rPr>
              <a:t>for </a:t>
            </a:r>
            <a:r>
              <a:rPr lang="pt-BR" sz="1800" dirty="0">
                <a:solidFill>
                  <a:srgbClr val="0070C0"/>
                </a:solidFill>
              </a:rPr>
              <a:t>letra </a:t>
            </a:r>
            <a:r>
              <a:rPr lang="pt-BR" sz="1800" b="1" dirty="0">
                <a:solidFill>
                  <a:srgbClr val="0070C0"/>
                </a:solidFill>
              </a:rPr>
              <a:t>in </a:t>
            </a:r>
            <a:r>
              <a:rPr lang="pt-BR" sz="1800" dirty="0" err="1">
                <a:solidFill>
                  <a:srgbClr val="0070C0"/>
                </a:solidFill>
              </a:rPr>
              <a:t>string</a:t>
            </a:r>
            <a:r>
              <a:rPr lang="pt-BR" sz="1800" dirty="0">
                <a:solidFill>
                  <a:srgbClr val="0070C0"/>
                </a:solidFill>
              </a:rPr>
              <a:t>:</a:t>
            </a:r>
            <a:br>
              <a:rPr lang="pt-BR" sz="1800" dirty="0">
                <a:solidFill>
                  <a:srgbClr val="0070C0"/>
                </a:solidFill>
              </a:rPr>
            </a:br>
            <a:r>
              <a:rPr lang="pt-BR" sz="1800" dirty="0">
                <a:solidFill>
                  <a:srgbClr val="0070C0"/>
                </a:solidFill>
              </a:rPr>
              <a:t>    contador[letra] = </a:t>
            </a:r>
            <a:r>
              <a:rPr lang="pt-BR" sz="1800" dirty="0" err="1">
                <a:solidFill>
                  <a:srgbClr val="0070C0"/>
                </a:solidFill>
              </a:rPr>
              <a:t>contador.get</a:t>
            </a:r>
            <a:r>
              <a:rPr lang="pt-BR" sz="1800" dirty="0">
                <a:solidFill>
                  <a:srgbClr val="0070C0"/>
                </a:solidFill>
              </a:rPr>
              <a:t>(letra, 0) + 1</a:t>
            </a:r>
            <a:br>
              <a:rPr lang="pt-BR" sz="1800" dirty="0">
                <a:solidFill>
                  <a:srgbClr val="0070C0"/>
                </a:solidFill>
              </a:rPr>
            </a:br>
            <a:br>
              <a:rPr lang="pt-BR" sz="1800" dirty="0">
                <a:solidFill>
                  <a:srgbClr val="0070C0"/>
                </a:solidFill>
              </a:rPr>
            </a:br>
            <a:r>
              <a:rPr lang="pt-BR" sz="1800" b="1" dirty="0">
                <a:solidFill>
                  <a:srgbClr val="0070C0"/>
                </a:solidFill>
              </a:rPr>
              <a:t>for </a:t>
            </a:r>
            <a:r>
              <a:rPr lang="pt-BR" sz="1800" dirty="0">
                <a:solidFill>
                  <a:srgbClr val="0070C0"/>
                </a:solidFill>
              </a:rPr>
              <a:t>chave, valor </a:t>
            </a:r>
            <a:r>
              <a:rPr lang="pt-BR" sz="1800" b="1" dirty="0">
                <a:solidFill>
                  <a:srgbClr val="0070C0"/>
                </a:solidFill>
              </a:rPr>
              <a:t>in </a:t>
            </a:r>
            <a:r>
              <a:rPr lang="pt-BR" sz="1800" dirty="0" err="1">
                <a:solidFill>
                  <a:srgbClr val="0070C0"/>
                </a:solidFill>
              </a:rPr>
              <a:t>contador.items</a:t>
            </a:r>
            <a:r>
              <a:rPr lang="pt-BR" sz="1800" dirty="0">
                <a:solidFill>
                  <a:srgbClr val="0070C0"/>
                </a:solidFill>
              </a:rPr>
              <a:t>():</a:t>
            </a:r>
            <a:br>
              <a:rPr lang="pt-BR" sz="1800" dirty="0">
                <a:solidFill>
                  <a:srgbClr val="0070C0"/>
                </a:solidFill>
              </a:rPr>
            </a:br>
            <a:r>
              <a:rPr lang="pt-BR" sz="1800" dirty="0">
                <a:solidFill>
                  <a:srgbClr val="0070C0"/>
                </a:solidFill>
              </a:rPr>
              <a:t>    print(</a:t>
            </a:r>
            <a:r>
              <a:rPr lang="pt-BR" sz="1800" dirty="0" err="1">
                <a:solidFill>
                  <a:srgbClr val="0070C0"/>
                </a:solidFill>
              </a:rPr>
              <a:t>f</a:t>
            </a:r>
            <a:r>
              <a:rPr lang="pt-BR" sz="1800" dirty="0">
                <a:solidFill>
                  <a:srgbClr val="0070C0"/>
                </a:solidFill>
              </a:rPr>
              <a:t>"{chave}: {valor}</a:t>
            </a:r>
            <a:r>
              <a:rPr lang="pt-BR" sz="1800" dirty="0" err="1">
                <a:solidFill>
                  <a:srgbClr val="0070C0"/>
                </a:solidFill>
              </a:rPr>
              <a:t>x</a:t>
            </a:r>
            <a:r>
              <a:rPr lang="pt-BR" sz="1800" dirty="0">
                <a:solidFill>
                  <a:srgbClr val="0070C0"/>
                </a:solidFill>
              </a:rPr>
              <a:t>")</a:t>
            </a:r>
          </a:p>
        </p:txBody>
      </p:sp>
    </p:spTree>
    <p:extLst>
      <p:ext uri="{BB962C8B-B14F-4D97-AF65-F5344CB8AC3E}">
        <p14:creationId xmlns:p14="http://schemas.microsoft.com/office/powerpoint/2010/main" val="7644457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>
            <a:extLst>
              <a:ext uri="{FF2B5EF4-FFF2-40B4-BE49-F238E27FC236}">
                <a16:creationId xmlns:a16="http://schemas.microsoft.com/office/drawing/2014/main" id="{BBE6E2D3-FF02-4E61-8B8C-74D3036FEB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24300" y="2565400"/>
            <a:ext cx="4679950" cy="1385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 eaLnBrk="1" hangingPunct="1">
              <a:defRPr/>
            </a:pPr>
            <a:r>
              <a:rPr kumimoji="1" lang="en-US" sz="1400" dirty="0">
                <a:solidFill>
                  <a:schemeClr val="bg1">
                    <a:lumMod val="85000"/>
                  </a:schemeClr>
                </a:solidFill>
              </a:rPr>
              <a:t>Copyright © </a:t>
            </a:r>
            <a:r>
              <a:rPr kumimoji="1" lang="en-US" sz="1400" b="1" dirty="0">
                <a:solidFill>
                  <a:schemeClr val="bg1">
                    <a:lumMod val="85000"/>
                  </a:schemeClr>
                </a:solidFill>
              </a:rPr>
              <a:t>2020  </a:t>
            </a:r>
            <a:r>
              <a:rPr kumimoji="1" lang="en-US" sz="1400" dirty="0">
                <a:solidFill>
                  <a:schemeClr val="bg1">
                    <a:lumMod val="85000"/>
                  </a:schemeClr>
                </a:solidFill>
              </a:rPr>
              <a:t>Prof. </a:t>
            </a:r>
          </a:p>
          <a:p>
            <a:pPr eaLnBrk="1" hangingPunct="1">
              <a:defRPr/>
            </a:pPr>
            <a:endParaRPr kumimoji="1" lang="en-US" sz="1400" dirty="0">
              <a:solidFill>
                <a:schemeClr val="bg1">
                  <a:lumMod val="85000"/>
                </a:schemeClr>
              </a:solidFill>
            </a:endParaRPr>
          </a:p>
          <a:p>
            <a:pPr eaLnBrk="1" hangingPunct="1">
              <a:defRPr/>
            </a:pPr>
            <a:r>
              <a:rPr kumimoji="1" lang="en-US" sz="1400" dirty="0" err="1">
                <a:solidFill>
                  <a:schemeClr val="bg1">
                    <a:lumMod val="85000"/>
                  </a:schemeClr>
                </a:solidFill>
              </a:rPr>
              <a:t>Todos</a:t>
            </a:r>
            <a:r>
              <a:rPr kumimoji="1" lang="en-US" sz="1400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kumimoji="1" lang="en-US" sz="1400" dirty="0" err="1">
                <a:solidFill>
                  <a:schemeClr val="bg1">
                    <a:lumMod val="85000"/>
                  </a:schemeClr>
                </a:solidFill>
              </a:rPr>
              <a:t>direitos</a:t>
            </a:r>
            <a:r>
              <a:rPr kumimoji="1" lang="en-US" sz="1400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kumimoji="1" lang="en-US" sz="1400" dirty="0" err="1">
                <a:solidFill>
                  <a:schemeClr val="bg1">
                    <a:lumMod val="85000"/>
                  </a:schemeClr>
                </a:solidFill>
              </a:rPr>
              <a:t>reservados</a:t>
            </a:r>
            <a:r>
              <a:rPr kumimoji="1" lang="en-US" sz="1400" dirty="0">
                <a:solidFill>
                  <a:schemeClr val="bg1">
                    <a:lumMod val="85000"/>
                  </a:schemeClr>
                </a:solidFill>
              </a:rPr>
              <a:t>. </a:t>
            </a:r>
            <a:r>
              <a:rPr kumimoji="1" lang="en-US" sz="1400" dirty="0" err="1">
                <a:solidFill>
                  <a:schemeClr val="bg1">
                    <a:lumMod val="85000"/>
                  </a:schemeClr>
                </a:solidFill>
              </a:rPr>
              <a:t>Reprodução</a:t>
            </a:r>
            <a:r>
              <a:rPr kumimoji="1" lang="en-US" sz="1400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kumimoji="1" lang="en-US" sz="1400" dirty="0" err="1">
                <a:solidFill>
                  <a:schemeClr val="bg1">
                    <a:lumMod val="85000"/>
                  </a:schemeClr>
                </a:solidFill>
              </a:rPr>
              <a:t>ou</a:t>
            </a:r>
            <a:r>
              <a:rPr kumimoji="1" lang="en-US" sz="1400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kumimoji="1" lang="en-US" sz="1400" dirty="0" err="1">
                <a:solidFill>
                  <a:schemeClr val="bg1">
                    <a:lumMod val="85000"/>
                  </a:schemeClr>
                </a:solidFill>
              </a:rPr>
              <a:t>divulgação</a:t>
            </a:r>
            <a:r>
              <a:rPr kumimoji="1" lang="en-US" sz="1400" dirty="0">
                <a:solidFill>
                  <a:schemeClr val="bg1">
                    <a:lumMod val="85000"/>
                  </a:schemeClr>
                </a:solidFill>
              </a:rPr>
              <a:t> total </a:t>
            </a:r>
            <a:r>
              <a:rPr kumimoji="1" lang="en-US" sz="1400" dirty="0" err="1">
                <a:solidFill>
                  <a:schemeClr val="bg1">
                    <a:lumMod val="85000"/>
                  </a:schemeClr>
                </a:solidFill>
              </a:rPr>
              <a:t>ou</a:t>
            </a:r>
            <a:r>
              <a:rPr kumimoji="1" lang="en-US" sz="1400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kumimoji="1" lang="en-US" sz="1400" dirty="0" err="1">
                <a:solidFill>
                  <a:schemeClr val="bg1">
                    <a:lumMod val="85000"/>
                  </a:schemeClr>
                </a:solidFill>
              </a:rPr>
              <a:t>parcial</a:t>
            </a:r>
            <a:r>
              <a:rPr kumimoji="1" lang="en-US" sz="1400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kumimoji="1" lang="en-US" sz="1400" dirty="0" err="1">
                <a:solidFill>
                  <a:schemeClr val="bg1">
                    <a:lumMod val="85000"/>
                  </a:schemeClr>
                </a:solidFill>
              </a:rPr>
              <a:t>deste</a:t>
            </a:r>
            <a:r>
              <a:rPr kumimoji="1" lang="en-US" sz="1400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kumimoji="1" lang="en-US" sz="1400" dirty="0" err="1">
                <a:solidFill>
                  <a:schemeClr val="bg1">
                    <a:lumMod val="85000"/>
                  </a:schemeClr>
                </a:solidFill>
              </a:rPr>
              <a:t>documento</a:t>
            </a:r>
            <a:r>
              <a:rPr kumimoji="1" lang="en-US" sz="1400" dirty="0">
                <a:solidFill>
                  <a:schemeClr val="bg1">
                    <a:lumMod val="85000"/>
                  </a:schemeClr>
                </a:solidFill>
              </a:rPr>
              <a:t> é </a:t>
            </a:r>
            <a:r>
              <a:rPr kumimoji="1" lang="en-US" sz="1400" dirty="0" err="1">
                <a:solidFill>
                  <a:schemeClr val="bg1">
                    <a:lumMod val="85000"/>
                  </a:schemeClr>
                </a:solidFill>
              </a:rPr>
              <a:t>expressamente</a:t>
            </a:r>
            <a:r>
              <a:rPr kumimoji="1" lang="en-US" sz="1400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kumimoji="1" lang="en-US" sz="1400" dirty="0" err="1">
                <a:solidFill>
                  <a:schemeClr val="bg1">
                    <a:lumMod val="85000"/>
                  </a:schemeClr>
                </a:solidFill>
              </a:rPr>
              <a:t>proíbido</a:t>
            </a:r>
            <a:r>
              <a:rPr kumimoji="1" lang="en-US" sz="1400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kumimoji="1" lang="en-US" sz="1400" dirty="0" err="1">
                <a:solidFill>
                  <a:schemeClr val="bg1">
                    <a:lumMod val="85000"/>
                  </a:schemeClr>
                </a:solidFill>
              </a:rPr>
              <a:t>sem</a:t>
            </a:r>
            <a:r>
              <a:rPr kumimoji="1" lang="en-US" sz="1400" dirty="0">
                <a:solidFill>
                  <a:schemeClr val="bg1">
                    <a:lumMod val="85000"/>
                  </a:schemeClr>
                </a:solidFill>
              </a:rPr>
              <a:t> o </a:t>
            </a:r>
            <a:r>
              <a:rPr kumimoji="1" lang="pt-BR" sz="1400" dirty="0">
                <a:solidFill>
                  <a:schemeClr val="bg1">
                    <a:lumMod val="85000"/>
                  </a:schemeClr>
                </a:solidFill>
              </a:rPr>
              <a:t>consentimento formal, por escrito,</a:t>
            </a:r>
            <a:r>
              <a:rPr kumimoji="1" lang="en-US" sz="1400" dirty="0">
                <a:solidFill>
                  <a:schemeClr val="bg1">
                    <a:lumMod val="85000"/>
                  </a:schemeClr>
                </a:solidFill>
              </a:rPr>
              <a:t> do Professor (</a:t>
            </a:r>
            <a:r>
              <a:rPr kumimoji="1" lang="en-US" sz="1400" dirty="0" err="1">
                <a:solidFill>
                  <a:schemeClr val="bg1">
                    <a:lumMod val="85000"/>
                  </a:schemeClr>
                </a:solidFill>
              </a:rPr>
              <a:t>autor</a:t>
            </a:r>
            <a:r>
              <a:rPr kumimoji="1" lang="en-US" sz="1400" dirty="0">
                <a:solidFill>
                  <a:schemeClr val="bg1">
                    <a:lumMod val="85000"/>
                  </a:schemeClr>
                </a:solidFill>
              </a:rPr>
              <a:t>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2_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6_Personalizar design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1_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7570</TotalTime>
  <Words>681</Words>
  <Application>Microsoft Macintosh PowerPoint</Application>
  <PresentationFormat>Apresentação na tela (4:3)</PresentationFormat>
  <Paragraphs>34</Paragraphs>
  <Slides>9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4</vt:i4>
      </vt:variant>
      <vt:variant>
        <vt:lpstr>Títulos de slides</vt:lpstr>
      </vt:variant>
      <vt:variant>
        <vt:i4>9</vt:i4>
      </vt:variant>
    </vt:vector>
  </HeadingPairs>
  <TitlesOfParts>
    <vt:vector size="17" baseType="lpstr">
      <vt:lpstr>Arial</vt:lpstr>
      <vt:lpstr>Calibri</vt:lpstr>
      <vt:lpstr>Square721 BT</vt:lpstr>
      <vt:lpstr>Times New Roman</vt:lpstr>
      <vt:lpstr>2_Tema do Office</vt:lpstr>
      <vt:lpstr>6_Personalizar design</vt:lpstr>
      <vt:lpstr>1_Tema do Office</vt:lpstr>
      <vt:lpstr>Tema do Office</vt:lpstr>
      <vt:lpstr>Apresentação do PowerPoint</vt:lpstr>
      <vt:lpstr>Exercícios </vt:lpstr>
      <vt:lpstr>Exercícios</vt:lpstr>
      <vt:lpstr>Exercícios</vt:lpstr>
      <vt:lpstr>Exercícios</vt:lpstr>
      <vt:lpstr>Exercícios</vt:lpstr>
      <vt:lpstr>Exercícios</vt:lpstr>
      <vt:lpstr>Exercícios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Susanne Andrade</dc:creator>
  <cp:lastModifiedBy>Michele Bazana de Souza</cp:lastModifiedBy>
  <cp:revision>601</cp:revision>
  <cp:lastPrinted>2015-08-20T10:58:19Z</cp:lastPrinted>
  <dcterms:created xsi:type="dcterms:W3CDTF">2012-10-02T15:58:15Z</dcterms:created>
  <dcterms:modified xsi:type="dcterms:W3CDTF">2022-08-09T20:13:57Z</dcterms:modified>
</cp:coreProperties>
</file>